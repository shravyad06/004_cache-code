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eb66a71-656a-fb94-8b9c-a9a993f1c98b}">
          <p14:sldIdLst>
            <p14:sldId id="256"/>
            <p14:sldId id="257"/>
          </p14:sldIdLst>
        </p14:section>
        <p14:section name="Discover" id="{e63cf0cf-e6e6-c085-129f-c9fdf7af07c6}">
          <p14:sldIdLst>
            <p14:sldId id="258"/>
          </p14:sldIdLst>
        </p14:section>
        <p14:section name="Solution" id="{eacb823d-f0f5-9817-7a33-4dc3cb45ee4e}">
          <p14:sldIdLst>
            <p14:sldId id="259"/>
            <p14:sldId id="260"/>
          </p14:sldIdLst>
        </p14:section>
        <p14:section name="Build" id="{c0a01e4f-2c2e-90d3-e00b-f4b8b71fb72e}">
          <p14:sldIdLst>
            <p14:sldId id="261"/>
            <p14:sldId id="262"/>
          </p14:sldIdLst>
        </p14:section>
        <p14:section name="Delivery" id="{9152c933-90d0-8ae9-0479-7a9dcb3f5d38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project name, team name, team ID, domain and college. Team ID and domain must match every other slide. Keep the tagline to one line. Time: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problem statement exactly as given by the organizers. Mention the problem ID and domain. Time: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understand the problem before jumping to the solution. Name the users, the pain points and why it matters now. Time: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one-line idea, then explain how it works in three steps. Time: 1.5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6 features that matter most. Each one should map back to a pain point. Time: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pieces connect. A simple three-layer view is enough for the design round. Time: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honestly against existing solutions. End with the one thing nobody else does. Time: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 you can. Be realistic on feasibility and name the top risk with a mitigation. Time: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slide before submitting. Delete it from the final submission only if the organizers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3" name="Image 0" descr="CBC 2.0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43000"/>
            <a:ext cx="3922776" cy="43891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2880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337560"/>
            <a:ext cx="71323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BC 2.0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94944" cy="7772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CBC 2.0   |   Design Round   |   Team ID: 004   |   Domain: AI &amp; ML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3" name="Image 0" descr="CBC 2.0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94944" cy="7772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CBC 2.0   |   Design Round   |   Team ID: 004   |   Domain: AI &amp; ML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tag"/>
          <p:cNvSpPr txBox="1"/>
          <p:nvPr/>
        </p:nvSpPr>
        <p:spPr>
          <a:xfrm>
            <a:off x="731520" y="1234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4"/>
                </a:solidFill>
              </a:rPr>
              <a:t>CBC 2.0  •  HACKATHON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288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Design Round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33375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  <a:defRPr sz="2600" b="1"/>
            </a:pPr>
            <a:r>
              <a:t>DocuSense AI  —  Extract. Validate. Verify. Correct.</a:t>
            </a:r>
            <a:endParaRPr lang="en-US" sz="2200" dirty="0"/>
          </a:p>
        </p:txBody>
      </p:sp>
      <p:sp>
        <p:nvSpPr>
          <p:cNvPr id="5" name="Info card 1"/>
          <p:cNvSpPr/>
          <p:nvPr/>
        </p:nvSpPr>
        <p:spPr>
          <a:xfrm>
            <a:off x="731520" y="475488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TEAM NAME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600" b="1"/>
            </a:pPr>
            <a:r>
              <a:t>CACHE CODE</a:t>
            </a:r>
            <a:endParaRPr lang="en-US" sz="1400" dirty="0"/>
          </a:p>
        </p:txBody>
      </p:sp>
      <p:sp>
        <p:nvSpPr>
          <p:cNvPr id="8" name="Info card 2"/>
          <p:cNvSpPr/>
          <p:nvPr/>
        </p:nvSpPr>
        <p:spPr>
          <a:xfrm>
            <a:off x="2514600" y="475488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TEAM ID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600" b="1"/>
            </a:pPr>
            <a:r>
              <a:t>004</a:t>
            </a:r>
            <a:endParaRPr lang="en-US" sz="1400" dirty="0"/>
          </a:p>
        </p:txBody>
      </p:sp>
      <p:sp>
        <p:nvSpPr>
          <p:cNvPr id="11" name="Info card 3"/>
          <p:cNvSpPr/>
          <p:nvPr/>
        </p:nvSpPr>
        <p:spPr>
          <a:xfrm>
            <a:off x="4297680" y="475488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DOMAIN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600" b="1"/>
            </a:pPr>
            <a:r>
              <a:t>AI &amp; ML</a:t>
            </a:r>
            <a:endParaRPr lang="en-US" sz="1400" dirty="0"/>
          </a:p>
        </p:txBody>
      </p:sp>
      <p:sp>
        <p:nvSpPr>
          <p:cNvPr id="14" name="Info card 4"/>
          <p:cNvSpPr/>
          <p:nvPr/>
        </p:nvSpPr>
        <p:spPr>
          <a:xfrm>
            <a:off x="6080760" y="4754880"/>
            <a:ext cx="16459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COLLEGE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600" b="1"/>
            </a:pPr>
            <a:r>
              <a:t>Sapthagiri NPS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4" name="Problem statement card"/>
          <p:cNvSpPr/>
          <p:nvPr/>
        </p:nvSpPr>
        <p:spPr>
          <a:xfrm>
            <a:off x="548640" y="1554480"/>
            <a:ext cx="749808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5" name="Clipboard icon circle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lipboard icon" descr="Clipboa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PROBLEM STATEMENT (AS GIVEN)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92608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000"/>
            </a:pPr>
            <a:r>
              <a:t>Organizations receive invoices, application forms, certificates, and other documents in different layouts. Extracting information manually is repetitive and error-prone.</a:t>
            </a:r>
            <a:br/>
            <a:br/>
            <a:r>
              <a:t>Objective: Build AI-powered system that extracts predefined information from uploaded documents and validates results.</a:t>
            </a:r>
            <a:br/>
            <a:br/>
            <a:r>
              <a:t>Workflow:</a:t>
            </a:r>
            <a:br/>
            <a:r>
              <a:t>- User uploads document or image.</a:t>
            </a:r>
            <a:br/>
            <a:r>
              <a:t>- System identifies document type.</a:t>
            </a:r>
            <a:br/>
            <a:r>
              <a:t>- Relevant fields extracted.</a:t>
            </a:r>
            <a:br/>
            <a:r>
              <a:t>- Extracted values validated against expected formats/rules.</a:t>
            </a:r>
            <a:br/>
            <a:r>
              <a:t>- Users review and correct uncertain fields.</a:t>
            </a:r>
            <a:br/>
            <a:br/>
            <a:r>
              <a:t>Key Requirements:</a:t>
            </a:r>
            <a:br/>
            <a:r>
              <a:t>- Support multiple document types.</a:t>
            </a:r>
            <a:br/>
            <a:r>
              <a:t>- Extract configurable fields.</a:t>
            </a:r>
            <a:br/>
            <a:r>
              <a:t>- Identify low-confidence or missing values.</a:t>
            </a:r>
            <a:br/>
            <a:r>
              <a:t>- Validate dates, numbers, identifiers, and required fields.</a:t>
            </a:r>
            <a:br/>
            <a:r>
              <a:t>- Allow users to correct extracted information.</a:t>
            </a:r>
            <a:br/>
            <a:br/>
            <a:r>
              <a:t>Edge Cases:</a:t>
            </a:r>
            <a:br/>
            <a:r>
              <a:t>- Poor-quality scan.</a:t>
            </a:r>
            <a:br/>
            <a:r>
              <a:t>- Missing required field.</a:t>
            </a:r>
            <a:br/>
            <a:r>
              <a:t>- Same information appears in multiple locations with different values.</a:t>
            </a:r>
            <a:br/>
            <a:br/>
            <a:r>
              <a:t>Scope:</a:t>
            </a:r>
            <a:br/>
            <a:r>
              <a:t>- Must Have: document upload, classification, field extraction, validation, review.</a:t>
            </a:r>
            <a:br/>
            <a:r>
              <a:t>- Stretch: highlight source location of each extracted value.</a:t>
            </a:r>
            <a:br/>
            <a:r>
              <a:t>- Demo: Upload different documents and demonstrate extraction, validation, correction of uncertain information.</a:t>
            </a:r>
            <a:endParaRPr lang="en-US" sz="2200" dirty="0"/>
          </a:p>
        </p:txBody>
      </p:sp>
      <p:sp>
        <p:nvSpPr>
          <p:cNvPr id="9" name="Meta card 1"/>
          <p:cNvSpPr/>
          <p:nvPr/>
        </p:nvSpPr>
        <p:spPr>
          <a:xfrm>
            <a:off x="8412480" y="1554480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410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PROBLEM ID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2148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50" b="1"/>
            </a:pPr>
            <a:r>
              <a:t>Problem Statement 3</a:t>
            </a:r>
            <a:endParaRPr lang="en-US" sz="1800" dirty="0"/>
          </a:p>
        </p:txBody>
      </p:sp>
      <p:sp>
        <p:nvSpPr>
          <p:cNvPr id="12" name="Meta card 2"/>
          <p:cNvSpPr/>
          <p:nvPr/>
        </p:nvSpPr>
        <p:spPr>
          <a:xfrm>
            <a:off x="8412480" y="3063240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410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DOMAIN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3657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400" b="1"/>
            </a:pPr>
            <a:r>
              <a:t>AI &amp; ML</a:t>
            </a:r>
            <a:endParaRPr lang="en-US" sz="1800" dirty="0"/>
          </a:p>
        </p:txBody>
      </p:sp>
      <p:sp>
        <p:nvSpPr>
          <p:cNvPr id="15" name="Meta card 3"/>
          <p:cNvSpPr/>
          <p:nvPr/>
        </p:nvSpPr>
        <p:spPr>
          <a:xfrm>
            <a:off x="8412480" y="4572000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4108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</a:rPr>
              <a:t>OUR FOCUS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41080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 b="1"/>
            </a:pPr>
            <a:r>
              <a:t>Reliable extraction of configurable document fields, followed by validation and human review.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Understanding the Problem</a:t>
            </a:r>
            <a:endParaRPr lang="en-US" sz="3600" dirty="0"/>
          </a:p>
        </p:txBody>
      </p:sp>
      <p:sp>
        <p:nvSpPr>
          <p:cNvPr id="4" name="Card Who is affected?"/>
          <p:cNvSpPr/>
          <p:nvPr/>
        </p:nvSpPr>
        <p:spPr>
          <a:xfrm>
            <a:off x="548640" y="1554480"/>
            <a:ext cx="3630168" cy="4389120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/>
        </p:spPr>
      </p:sp>
      <p:sp>
        <p:nvSpPr>
          <p:cNvPr id="5" name="Who is affected? icon circle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Who is affected? icon" descr="Who is affected?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088490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Who is affected?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300"/>
            </a:pPr>
            <a:r>
              <a:t>• Operations, finance, HR, admissions, and document-verification teams.</a:t>
            </a:r>
            <a:endParaRPr lang="en-US" sz="1600" dirty="0"/>
          </a:p>
          <a:p>
            <a:pPr>
              <a:defRPr sz="1300"/>
            </a:pPr>
            <a:r>
              <a:t>• Staff handling invoices, certificates, and application forms.</a:t>
            </a:r>
          </a:p>
          <a:p>
            <a:pPr>
              <a:defRPr sz="1300"/>
            </a:pPr>
            <a:r>
              <a:t>• Organizations processing documents in different layouts.</a:t>
            </a:r>
          </a:p>
        </p:txBody>
      </p:sp>
      <p:sp>
        <p:nvSpPr>
          <p:cNvPr id="9" name="Card What is going wrong?"/>
          <p:cNvSpPr/>
          <p:nvPr/>
        </p:nvSpPr>
        <p:spPr>
          <a:xfrm>
            <a:off x="4279392" y="1554480"/>
            <a:ext cx="3630168" cy="4389120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/>
        </p:spPr>
      </p:sp>
      <p:sp>
        <p:nvSpPr>
          <p:cNvPr id="10" name="What is going wrong? icon circle"/>
          <p:cNvSpPr/>
          <p:nvPr/>
        </p:nvSpPr>
        <p:spPr>
          <a:xfrm>
            <a:off x="4599432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What is going wrong? icon" descr="What is going wrong?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02" y="2088490"/>
            <a:ext cx="395021" cy="39502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99432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 is going wrong?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599432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300"/>
            </a:pPr>
            <a:r>
              <a:t>• Manual data entry is repetitive and error-prone.</a:t>
            </a:r>
            <a:endParaRPr lang="en-US" sz="1600" dirty="0"/>
          </a:p>
          <a:p>
            <a:pPr>
              <a:defRPr sz="1300"/>
            </a:pPr>
            <a:r>
              <a:t>• Different document layouts make rigid extraction unreliable.</a:t>
            </a:r>
          </a:p>
          <a:p>
            <a:pPr>
              <a:defRPr sz="1300"/>
            </a:pPr>
            <a:r>
              <a:t>• Missing, invalid, or conflicting values may be overlooked.</a:t>
            </a:r>
          </a:p>
        </p:txBody>
      </p:sp>
      <p:sp>
        <p:nvSpPr>
          <p:cNvPr id="14" name="Card Why does it matter?"/>
          <p:cNvSpPr/>
          <p:nvPr/>
        </p:nvSpPr>
        <p:spPr>
          <a:xfrm>
            <a:off x="8010144" y="1554480"/>
            <a:ext cx="3630168" cy="4389120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/>
        </p:spPr>
      </p:sp>
      <p:sp>
        <p:nvSpPr>
          <p:cNvPr id="15" name="Why does it matter? icon circle"/>
          <p:cNvSpPr/>
          <p:nvPr/>
        </p:nvSpPr>
        <p:spPr>
          <a:xfrm>
            <a:off x="8330184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Why does it matter? icon" descr="Why does it matter?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2088490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30184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Why does it matter?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330184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300"/>
            </a:pPr>
            <a:r>
              <a:t>• Errors can delay document processing and verification.</a:t>
            </a:r>
            <a:endParaRPr lang="en-US" sz="1600" dirty="0"/>
          </a:p>
          <a:p>
            <a:pPr>
              <a:defRPr sz="1300"/>
            </a:pPr>
            <a:r>
              <a:t>• Staff spend time on repetitive checking.</a:t>
            </a:r>
          </a:p>
          <a:p>
            <a:pPr>
              <a:defRPr sz="1300"/>
            </a:pPr>
            <a:r>
              <a:t>• Reviewers need traceable evidence to trust extracted values.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Proposed Solution</a:t>
            </a:r>
            <a:endParaRPr lang="en-US" sz="3600" dirty="0"/>
          </a:p>
        </p:txBody>
      </p:sp>
      <p:sp>
        <p:nvSpPr>
          <p:cNvPr id="4" name="Solution statement card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chemeClr val="accent1"/>
          </a:solidFill>
          <a:ln/>
        </p:spPr>
      </p:sp>
      <p:sp>
        <p:nvSpPr>
          <p:cNvPr id="5" name="Bulb icon circle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Bulb icon" descr="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042770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2"/>
                </a:solidFill>
              </a:rPr>
              <a:t>THE IDEA IN ONE LINE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3375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400" b="1"/>
            </a:pPr>
            <a:r>
              <a:t>DocuSense AI helps document-processing teams turn varied documents into structured, validated information through OCR, configurable field extraction, and human review.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1554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How it works</a:t>
            </a:r>
            <a:endParaRPr lang="en-US" sz="2200" dirty="0"/>
          </a:p>
        </p:txBody>
      </p:sp>
      <p:sp>
        <p:nvSpPr>
          <p:cNvPr id="10" name="Step card 1"/>
          <p:cNvSpPr/>
          <p:nvPr/>
        </p:nvSpPr>
        <p:spPr>
          <a:xfrm>
            <a:off x="5943600" y="2103120"/>
            <a:ext cx="569671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Step 1 circle"/>
          <p:cNvSpPr/>
          <p:nvPr/>
        </p:nvSpPr>
        <p:spPr>
          <a:xfrm>
            <a:off x="6172200" y="2377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ep 1"/>
          <p:cNvSpPr txBox="1"/>
          <p:nvPr/>
        </p:nvSpPr>
        <p:spPr>
          <a:xfrm>
            <a:off x="6172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Step 1 — Input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Users upload supported PDFs, scanned PDFs, or JPG/PNG images.</a:t>
            </a:r>
            <a:endParaRPr lang="en-US" sz="1400" dirty="0"/>
          </a:p>
        </p:txBody>
      </p:sp>
      <p:sp>
        <p:nvSpPr>
          <p:cNvPr id="15" name="Step card 2"/>
          <p:cNvSpPr/>
          <p:nvPr/>
        </p:nvSpPr>
        <p:spPr>
          <a:xfrm>
            <a:off x="5943600" y="3383280"/>
            <a:ext cx="569671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Step 2 circle"/>
          <p:cNvSpPr/>
          <p:nvPr/>
        </p:nvSpPr>
        <p:spPr>
          <a:xfrm>
            <a:off x="6172200" y="3657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Step 2"/>
          <p:cNvSpPr txBox="1"/>
          <p:nvPr/>
        </p:nvSpPr>
        <p:spPr>
          <a:xfrm>
            <a:off x="61722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94944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Step 2 — Process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The system reads text, identifies the likely document type, extracts configured fields, validates values, and flags missing, invalid, or conflicting information.</a:t>
            </a:r>
            <a:endParaRPr lang="en-US" sz="1400" dirty="0"/>
          </a:p>
        </p:txBody>
      </p:sp>
      <p:sp>
        <p:nvSpPr>
          <p:cNvPr id="20" name="Step card 3"/>
          <p:cNvSpPr/>
          <p:nvPr/>
        </p:nvSpPr>
        <p:spPr>
          <a:xfrm>
            <a:off x="5943600" y="4663440"/>
            <a:ext cx="569671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Step 3 circle"/>
          <p:cNvSpPr/>
          <p:nvPr/>
        </p:nvSpPr>
        <p:spPr>
          <a:xfrm>
            <a:off x="6172200" y="4937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Step 3"/>
          <p:cNvSpPr txBox="1"/>
          <p:nvPr/>
        </p:nvSpPr>
        <p:spPr>
          <a:xfrm>
            <a:off x="617220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94944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Step 3 — Outcome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94944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Users inspect flagged fields, correct uncertain results, and save reviewed structured information.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55448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Feature 1 icon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eature 1 icon" descr="Featur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1 — Multi-Format Upload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/>
            </a:pPr>
            <a:r>
              <a:t>Accept supported PDFs and images, and clearly reject unsupported or corrupted files.</a:t>
            </a:r>
            <a:endParaRPr lang="en-US" sz="1400" dirty="0"/>
          </a:p>
        </p:txBody>
      </p:sp>
      <p:sp>
        <p:nvSpPr>
          <p:cNvPr id="9" name="Feature card 2"/>
          <p:cNvSpPr/>
          <p:nvPr/>
        </p:nvSpPr>
        <p:spPr>
          <a:xfrm>
            <a:off x="4279392" y="155448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Feature 2 icon circle"/>
          <p:cNvSpPr/>
          <p:nvPr/>
        </p:nvSpPr>
        <p:spPr>
          <a:xfrm>
            <a:off x="4553712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eature 2 icon" descr="Featur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199522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76672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2 — Document Classification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53712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/>
            </a:pPr>
            <a:r>
              <a:t>Identify likely document categories such as invoices, certificates, and application forms.</a:t>
            </a:r>
            <a:endParaRPr lang="en-US" sz="1400" dirty="0"/>
          </a:p>
        </p:txBody>
      </p:sp>
      <p:sp>
        <p:nvSpPr>
          <p:cNvPr id="14" name="Feature card 3"/>
          <p:cNvSpPr/>
          <p:nvPr/>
        </p:nvSpPr>
        <p:spPr>
          <a:xfrm>
            <a:off x="8010144" y="155448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Feature 3 icon circle"/>
          <p:cNvSpPr/>
          <p:nvPr/>
        </p:nvSpPr>
        <p:spPr>
          <a:xfrm>
            <a:off x="8284464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Feature 3 icon" descr="Featur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5" y="199522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07424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3 — Configurable Field Extraction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284464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/>
            </a:pPr>
            <a:r>
              <a:t>Use document-specific schemas to map relevant information into structured JSON.</a:t>
            </a:r>
            <a:endParaRPr lang="en-US" sz="1400" dirty="0"/>
          </a:p>
        </p:txBody>
      </p:sp>
      <p:sp>
        <p:nvSpPr>
          <p:cNvPr id="19" name="Feature card 4"/>
          <p:cNvSpPr/>
          <p:nvPr/>
        </p:nvSpPr>
        <p:spPr>
          <a:xfrm>
            <a:off x="548640" y="388620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Feature 4 icon circl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Feature 4 icon" descr="Feature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32694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4 — Validation Engine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/>
            </a:pPr>
            <a:r>
              <a:t>Check required fields, dates, numbers, identifiers, and configurable rules.</a:t>
            </a:r>
            <a:endParaRPr lang="en-US" sz="1400" dirty="0"/>
          </a:p>
        </p:txBody>
      </p:sp>
      <p:sp>
        <p:nvSpPr>
          <p:cNvPr id="24" name="Feature card 5"/>
          <p:cNvSpPr/>
          <p:nvPr/>
        </p:nvSpPr>
        <p:spPr>
          <a:xfrm>
            <a:off x="4279392" y="388620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5" name="Feature 5 icon circle"/>
          <p:cNvSpPr/>
          <p:nvPr/>
        </p:nvSpPr>
        <p:spPr>
          <a:xfrm>
            <a:off x="4553712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Feature 5 icon" descr="Feature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432694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76672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5 — Confidence-Aware Review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53712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/>
            </a:pPr>
            <a:r>
              <a:t>Flag missing, uncertain, or conflicting values for human verification.</a:t>
            </a:r>
            <a:endParaRPr lang="en-US" sz="1400" dirty="0"/>
          </a:p>
        </p:txBody>
      </p:sp>
      <p:sp>
        <p:nvSpPr>
          <p:cNvPr id="29" name="Feature card 6"/>
          <p:cNvSpPr/>
          <p:nvPr/>
        </p:nvSpPr>
        <p:spPr>
          <a:xfrm>
            <a:off x="8010144" y="3886200"/>
            <a:ext cx="363016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0" name="Feature 6 icon circle"/>
          <p:cNvSpPr/>
          <p:nvPr/>
        </p:nvSpPr>
        <p:spPr>
          <a:xfrm>
            <a:off x="8284464" y="4160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Feature 6 icon" descr="Feature 6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885" y="4326941"/>
            <a:ext cx="307238" cy="30723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07424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400" b="1"/>
            </a:pPr>
            <a:r>
              <a:t>Feature 6 — Evidence-Linked Extraction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284464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150"/>
            </a:pPr>
            <a:r>
              <a:t>Proposed stretch feature: show source text, page references, and bounding-box highlights when OCR coordinates are available.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Architecture &amp; Tech Stack</a:t>
            </a:r>
            <a:endParaRPr lang="en-US" sz="3600" dirty="0"/>
          </a:p>
        </p:txBody>
      </p:sp>
      <p:sp>
        <p:nvSpPr>
          <p:cNvPr id="4" name="Layer 1"/>
          <p:cNvSpPr/>
          <p:nvPr/>
        </p:nvSpPr>
        <p:spPr>
          <a:xfrm>
            <a:off x="548640" y="155448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5" name="User layer icon circle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User layer icon" descr="User lay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74520" y="1810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User layer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874520" y="2267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React + TypeScript + Tailwind CSS for web dashboard, upload, and review interface.</a:t>
            </a:r>
            <a:endParaRPr lang="en-US" sz="1400" dirty="0"/>
          </a:p>
        </p:txBody>
      </p:sp>
      <p:sp>
        <p:nvSpPr>
          <p:cNvPr id="9" name="Layer 2"/>
          <p:cNvSpPr/>
          <p:nvPr/>
        </p:nvSpPr>
        <p:spPr>
          <a:xfrm>
            <a:off x="548640" y="306324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10" name="Application layer icon circle"/>
          <p:cNvSpPr/>
          <p:nvPr/>
        </p:nvSpPr>
        <p:spPr>
          <a:xfrm>
            <a:off x="868680" y="33375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pplication layer icon" descr="Application lay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352775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74520" y="33192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Application layer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874520" y="37764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Python + FastAPI for document upload, processing APIs, validation, review, and result retrieval.</a:t>
            </a:r>
            <a:endParaRPr lang="en-US" sz="1400" dirty="0"/>
          </a:p>
        </p:txBody>
      </p:sp>
      <p:sp>
        <p:nvSpPr>
          <p:cNvPr id="14" name="Layer 3"/>
          <p:cNvSpPr/>
          <p:nvPr/>
        </p:nvSpPr>
        <p:spPr>
          <a:xfrm>
            <a:off x="548640" y="457200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/>
        </p:spPr>
      </p:sp>
      <p:sp>
        <p:nvSpPr>
          <p:cNvPr id="15" name="Data &amp; AI layer icon circle"/>
          <p:cNvSpPr/>
          <p:nvPr/>
        </p:nvSpPr>
        <p:spPr>
          <a:xfrm>
            <a:off x="868680" y="4846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Data &amp; AI layer icon" descr="Data &amp; AI lay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503651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874520" y="4828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 &amp; AI layer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874520" y="5285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/>
            </a:pPr>
            <a:r>
              <a:t>PyMuPDF &amp; OpenCV for parsing; PaddleOCR + optional LLM API; SQLite DB for prototype.</a:t>
            </a:r>
            <a:endParaRPr lang="en-US" sz="1400" dirty="0"/>
          </a:p>
        </p:txBody>
      </p:sp>
      <p:sp>
        <p:nvSpPr>
          <p:cNvPr id="19" name="Tech stack card"/>
          <p:cNvSpPr/>
          <p:nvPr/>
        </p:nvSpPr>
        <p:spPr>
          <a:xfrm>
            <a:off x="7863840" y="1554480"/>
            <a:ext cx="3776472" cy="429768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18388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Tech stack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818388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Design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509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00"/>
            </a:pPr>
            <a:r>
              <a:t>Figma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509760" y="3099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00"/>
            </a:pPr>
            <a:r>
              <a:t>React / TypeScript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183880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509760" y="3776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00"/>
            </a:pPr>
            <a:r>
              <a:t>Python / FastAPI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183880" y="4453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9509760" y="4453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00"/>
            </a:pPr>
            <a:r>
              <a:t>SQLite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183880" y="5129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/ APIs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509760" y="5129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00"/>
            </a:pPr>
            <a:r>
              <a:t>PaddleOCR / LLM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Innovation &amp; Differentiation</a:t>
            </a:r>
            <a:endParaRPr lang="en-US" sz="36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33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Existing solutions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Our solution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400" b="1" dirty="0">
                          <a:solidFill>
                            <a:srgbClr val="071A3D"/>
                          </a:solidFill>
                        </a:rPr>
                        <a:t>Ease of use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Manual or rigid data-entry workflows.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One upload-and-review workflow.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400" b="1" dirty="0">
                          <a:solidFill>
                            <a:srgbClr val="071A3D"/>
                          </a:solidFill>
                        </a:rPr>
                        <a:t>Cost / access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Repetitive staff effort and tooling costs.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Accessible software stack for prototype; API limits apply.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400" b="1" dirty="0">
                          <a:solidFill>
                            <a:srgbClr val="071A3D"/>
                          </a:solidFill>
                        </a:rPr>
                        <a:t>Personalization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Layout-specific extraction rules required.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Configurable field schemas for different categories.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  <a:defRPr sz="1150"/>
                      </a:pPr>
                      <a:r>
                        <a:rPr lang="en-US" sz="1400" b="1" dirty="0">
                          <a:solidFill>
                            <a:srgbClr val="071A3D"/>
                          </a:solidFill>
                        </a:rPr>
                        <a:t>Scalability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Synchronous workflows become bottlenecks.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Asynchronous jobs &amp; processing workers proposed for multiple uploads.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Unique edge card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350" b="1"/>
            </a:pPr>
            <a:r>
              <a:t>Our unique edge: DocuSense AI combines configurable field extraction, validation, conflict detection, and evidence-linked human review in one workflow.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Impact, Feasibility &amp; Risks</a:t>
            </a:r>
            <a:endParaRPr lang="en-US" sz="3600" dirty="0"/>
          </a:p>
        </p:txBody>
      </p:sp>
      <p:sp>
        <p:nvSpPr>
          <p:cNvPr id="4" name="Impact label"/>
          <p:cNvSpPr/>
          <p:nvPr/>
        </p:nvSpPr>
        <p:spPr>
          <a:xfrm>
            <a:off x="548640" y="155448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5" name="Impact icon circle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pact icon" descr="Impa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76349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Impact</a:t>
            </a:r>
            <a:endParaRPr lang="en-US" sz="1800" dirty="0"/>
          </a:p>
        </p:txBody>
      </p:sp>
      <p:sp>
        <p:nvSpPr>
          <p:cNvPr id="8" name="Impact text card"/>
          <p:cNvSpPr/>
          <p:nvPr/>
        </p:nvSpPr>
        <p:spPr>
          <a:xfrm>
            <a:off x="3840480" y="1554480"/>
            <a:ext cx="77998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114800" y="1554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/>
            </a:pPr>
            <a:r>
              <a:t>Reduce repetitive data-entry work and help reviewers detect missing, invalid, and conflicting values. Actual time savings must be measured during testing.</a:t>
            </a:r>
            <a:endParaRPr lang="en-US" sz="1400" dirty="0"/>
          </a:p>
        </p:txBody>
      </p:sp>
      <p:sp>
        <p:nvSpPr>
          <p:cNvPr id="10" name="Feasibility label"/>
          <p:cNvSpPr/>
          <p:nvPr/>
        </p:nvSpPr>
        <p:spPr>
          <a:xfrm>
            <a:off x="548640" y="269748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1" name="Feasibility icon circle"/>
          <p:cNvSpPr/>
          <p:nvPr/>
        </p:nvSpPr>
        <p:spPr>
          <a:xfrm>
            <a:off x="777240" y="285292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Feasibility icon" descr="Feasibilit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01934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2697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Feasibility</a:t>
            </a:r>
            <a:endParaRPr lang="en-US" sz="1800" dirty="0"/>
          </a:p>
        </p:txBody>
      </p:sp>
      <p:sp>
        <p:nvSpPr>
          <p:cNvPr id="14" name="Feasibility text card"/>
          <p:cNvSpPr/>
          <p:nvPr/>
        </p:nvSpPr>
        <p:spPr>
          <a:xfrm>
            <a:off x="3840480" y="2697480"/>
            <a:ext cx="77998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114800" y="2697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/>
            </a:pPr>
            <a:r>
              <a:t>A four-person team can target an end-to-end prototype using React, FastAPI, PaddleOCR, Python validation rules, and SQLite within the 18-hour implementation window.</a:t>
            </a:r>
            <a:endParaRPr lang="en-US" sz="1400" dirty="0"/>
          </a:p>
        </p:txBody>
      </p:sp>
      <p:sp>
        <p:nvSpPr>
          <p:cNvPr id="16" name="Scalability label"/>
          <p:cNvSpPr/>
          <p:nvPr/>
        </p:nvSpPr>
        <p:spPr>
          <a:xfrm>
            <a:off x="548640" y="384048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</p:sp>
      <p:sp>
        <p:nvSpPr>
          <p:cNvPr id="17" name="Scalability icon circle"/>
          <p:cNvSpPr/>
          <p:nvPr/>
        </p:nvSpPr>
        <p:spPr>
          <a:xfrm>
            <a:off x="777240" y="399592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Scalability icon" descr="Scalabilit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162349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3840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20" name="Scalability text card"/>
          <p:cNvSpPr/>
          <p:nvPr/>
        </p:nvSpPr>
        <p:spPr>
          <a:xfrm>
            <a:off x="3840480" y="3840480"/>
            <a:ext cx="77998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114800" y="3840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200"/>
            </a:pPr>
            <a:r>
              <a:t>Use background jobs, job-status tracking, and worker processes. PostgreSQL, object storage, and a distributed queue are possible future upgrades.</a:t>
            </a:r>
            <a:endParaRPr lang="en-US" sz="1400" dirty="0"/>
          </a:p>
        </p:txBody>
      </p:sp>
      <p:sp>
        <p:nvSpPr>
          <p:cNvPr id="22" name="Risks &amp; mitigation label"/>
          <p:cNvSpPr/>
          <p:nvPr/>
        </p:nvSpPr>
        <p:spPr>
          <a:xfrm>
            <a:off x="548640" y="498348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23" name="Risks &amp; mitigation icon circle"/>
          <p:cNvSpPr/>
          <p:nvPr/>
        </p:nvSpPr>
        <p:spPr>
          <a:xfrm>
            <a:off x="777240" y="513892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Risks &amp; mitigation icon" descr="Risks &amp; mitigati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5305349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4983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Risks &amp; mitigation</a:t>
            </a:r>
            <a:endParaRPr lang="en-US" sz="1800" dirty="0"/>
          </a:p>
        </p:txBody>
      </p:sp>
      <p:sp>
        <p:nvSpPr>
          <p:cNvPr id="26" name="Risks &amp; mitigation text card"/>
          <p:cNvSpPr/>
          <p:nvPr/>
        </p:nvSpPr>
        <p:spPr>
          <a:xfrm>
            <a:off x="3840480" y="4983480"/>
            <a:ext cx="77998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4114800" y="4983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50"/>
            </a:pPr>
            <a:r>
              <a:t>• Poor scans: preprocessing &amp; quality warnings.</a:t>
            </a:r>
            <a:endParaRPr lang="en-US" sz="1400" dirty="0"/>
          </a:p>
          <a:p>
            <a:pPr>
              <a:defRPr sz="1050"/>
            </a:pPr>
            <a:r>
              <a:t>• Missing fields: explicit required-field flags.</a:t>
            </a:r>
          </a:p>
          <a:p>
            <a:pPr>
              <a:defRPr sz="1050"/>
            </a:pPr>
            <a:r>
              <a:t>• Conflicting values: retain alternatives &amp; show source evidence.</a:t>
            </a:r>
          </a:p>
          <a:p>
            <a:pPr>
              <a:defRPr sz="1050"/>
            </a:pPr>
            <a:r>
              <a:t>• API failure: timeouts, safe retries &amp; fallback.</a:t>
            </a:r>
          </a:p>
          <a:p>
            <a:pPr>
              <a:defRPr sz="1050"/>
            </a:pPr>
            <a:r>
              <a:t>• Sensitive documents: access controls &amp; cautious API use.</a:t>
            </a:r>
          </a:p>
          <a:p>
            <a:pPr>
              <a:defRPr sz="1050"/>
            </a:pPr>
            <a:r>
              <a:t>• Large uploads: queued processing &amp; performance testing.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Rules to Follow</a:t>
            </a:r>
            <a:endParaRPr lang="en-US" sz="3600" dirty="0"/>
          </a:p>
        </p:txBody>
      </p:sp>
      <p:sp>
        <p:nvSpPr>
          <p:cNvPr id="4" name="Highlight rule card"/>
          <p:cNvSpPr/>
          <p:nvPr/>
        </p:nvSpPr>
        <p:spPr>
          <a:xfrm>
            <a:off x="548640" y="1554480"/>
            <a:ext cx="11091672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</p:sp>
      <p:sp>
        <p:nvSpPr>
          <p:cNvPr id="5" name="Rule highlight icon circle"/>
          <p:cNvSpPr/>
          <p:nvPr/>
        </p:nvSpPr>
        <p:spPr>
          <a:xfrm>
            <a:off x="868680" y="180136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Rule highlight icon" descr="Rule highligh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67789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Team ID and Domain must be identical on every slide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8308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Set them once in View → Slide Master (footer), then match the title slide and the problem statement slide.</a:t>
            </a:r>
            <a:endParaRPr lang="en-US" sz="1400" dirty="0"/>
          </a:p>
        </p:txBody>
      </p:sp>
      <p:sp>
        <p:nvSpPr>
          <p:cNvPr id="9" name="Rule card 1"/>
          <p:cNvSpPr/>
          <p:nvPr/>
        </p:nvSpPr>
        <p:spPr>
          <a:xfrm>
            <a:off x="548640" y="292608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Step 1 circle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1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this template as given — keep the theme, logo and slide order</a:t>
            </a:r>
            <a:endParaRPr lang="en-US" sz="1500" dirty="0"/>
          </a:p>
        </p:txBody>
      </p:sp>
      <p:sp>
        <p:nvSpPr>
          <p:cNvPr id="13" name="Rule card 2"/>
          <p:cNvSpPr/>
          <p:nvPr/>
        </p:nvSpPr>
        <p:spPr>
          <a:xfrm>
            <a:off x="6199632" y="292608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Step 2 circle"/>
          <p:cNvSpPr/>
          <p:nvPr/>
        </p:nvSpPr>
        <p:spPr>
          <a:xfrm>
            <a:off x="6428232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2"/>
          <p:cNvSpPr txBox="1"/>
          <p:nvPr/>
        </p:nvSpPr>
        <p:spPr>
          <a:xfrm>
            <a:off x="642823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114032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Paste the problem statement exactly as provided by the organizers</a:t>
            </a:r>
            <a:endParaRPr lang="en-US" sz="1500" dirty="0"/>
          </a:p>
        </p:txBody>
      </p:sp>
      <p:sp>
        <p:nvSpPr>
          <p:cNvPr id="17" name="Rule card 3"/>
          <p:cNvSpPr/>
          <p:nvPr/>
        </p:nvSpPr>
        <p:spPr>
          <a:xfrm>
            <a:off x="548640" y="3950208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Step 3 circle"/>
          <p:cNvSpPr/>
          <p:nvPr/>
        </p:nvSpPr>
        <p:spPr>
          <a:xfrm>
            <a:off x="777240" y="4151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3"/>
          <p:cNvSpPr txBox="1"/>
          <p:nvPr/>
        </p:nvSpPr>
        <p:spPr>
          <a:xfrm>
            <a:off x="77724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463040" y="39502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message per slide, short points, text no smaller than 14 pt</a:t>
            </a:r>
            <a:endParaRPr lang="en-US" sz="1500" dirty="0"/>
          </a:p>
        </p:txBody>
      </p:sp>
      <p:sp>
        <p:nvSpPr>
          <p:cNvPr id="21" name="Rule card 4"/>
          <p:cNvSpPr/>
          <p:nvPr/>
        </p:nvSpPr>
        <p:spPr>
          <a:xfrm>
            <a:off x="6199632" y="3950208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2" name="Step 4 circle"/>
          <p:cNvSpPr/>
          <p:nvPr/>
        </p:nvSpPr>
        <p:spPr>
          <a:xfrm>
            <a:off x="6428232" y="4151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4"/>
          <p:cNvSpPr txBox="1"/>
          <p:nvPr/>
        </p:nvSpPr>
        <p:spPr>
          <a:xfrm>
            <a:off x="642823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114032" y="39502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original work only; cite the source for every stat or image</a:t>
            </a:r>
            <a:endParaRPr lang="en-US" sz="1500" dirty="0"/>
          </a:p>
        </p:txBody>
      </p:sp>
      <p:sp>
        <p:nvSpPr>
          <p:cNvPr id="25" name="Rule card 5"/>
          <p:cNvSpPr/>
          <p:nvPr/>
        </p:nvSpPr>
        <p:spPr>
          <a:xfrm>
            <a:off x="548640" y="4974336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6" name="Step 5 circle"/>
          <p:cNvSpPr/>
          <p:nvPr/>
        </p:nvSpPr>
        <p:spPr>
          <a:xfrm>
            <a:off x="777240" y="51755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tep 5"/>
          <p:cNvSpPr txBox="1"/>
          <p:nvPr/>
        </p:nvSpPr>
        <p:spPr>
          <a:xfrm>
            <a:off x="77724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463040" y="49743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your content inside the placeholders, no overflow or overlap</a:t>
            </a:r>
            <a:endParaRPr lang="en-US" sz="1500" dirty="0"/>
          </a:p>
        </p:txBody>
      </p:sp>
      <p:sp>
        <p:nvSpPr>
          <p:cNvPr id="29" name="Rule card 6"/>
          <p:cNvSpPr/>
          <p:nvPr/>
        </p:nvSpPr>
        <p:spPr>
          <a:xfrm>
            <a:off x="6199632" y="4974336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30" name="Step 6 circle"/>
          <p:cNvSpPr/>
          <p:nvPr/>
        </p:nvSpPr>
        <p:spPr>
          <a:xfrm>
            <a:off x="6428232" y="51755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tep 6"/>
          <p:cNvSpPr txBox="1"/>
          <p:nvPr/>
        </p:nvSpPr>
        <p:spPr>
          <a:xfrm>
            <a:off x="6428232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7114032" y="49743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Submit as PPTX and PDF named TeamID_Domain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Design Round">
  <a:themeElements>
    <a:clrScheme name="Hackathon Design Round">
      <a:dk1>
        <a:srgbClr val="071A3D"/>
      </a:dk1>
      <a:lt1>
        <a:srgbClr val="FFFFFF"/>
      </a:lt1>
      <a:dk2>
        <a:srgbClr val="0F2F6B"/>
      </a:dk2>
      <a:lt2>
        <a:srgbClr val="EEF4FD"/>
      </a:lt2>
      <a:accent1>
        <a:srgbClr val="1F6FEB"/>
      </a:accent1>
      <a:accent2>
        <a:srgbClr val="E8512F"/>
      </a:accent2>
      <a:accent3>
        <a:srgbClr val="0E8F83"/>
      </a:accent3>
      <a:accent4>
        <a:srgbClr val="FFC21A"/>
      </a:accent4>
      <a:accent5>
        <a:srgbClr val="0B4FC4"/>
      </a:accent5>
      <a:accent6>
        <a:srgbClr val="5F6F8C"/>
      </a:accent6>
      <a:hlink>
        <a:srgbClr val="1F6FEB"/>
      </a:hlink>
      <a:folHlink>
        <a:srgbClr val="5F6F8C"/>
      </a:folHlink>
    </a:clrScheme>
    <a:fontScheme name="Hackathon Design Rou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Design Round Template</dc:title>
  <dc:subject>PptxGenJS Presentation</dc:subject>
  <dc:creator>PptxGenJS</dc:creator>
  <cp:lastModifiedBy>PptxGenJS</cp:lastModifiedBy>
  <cp:revision>1</cp:revision>
  <dcterms:created xsi:type="dcterms:W3CDTF">2026-10-10T02:01:39Z</dcterms:created>
  <dcterms:modified xsi:type="dcterms:W3CDTF">2026-10-10T02:01:39Z</dcterms:modified>
</cp:coreProperties>
</file>