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10728655" cy="5212080"/>
          </a:xfrm>
          <a:prstGeom prst="roundRect">
            <a:avLst/>
          </a:prstGeom>
          <a:solidFill>
            <a:srgbClr val="131D36"/>
          </a:solidFill>
          <a:ln w="317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CBC 2.0 HACKATHON — FINAL JURY EVALUATION</a:t>
            </a:r>
          </a:p>
          <a:p>
            <a:pPr>
              <a:defRPr sz="4600" b="1">
                <a:solidFill>
                  <a:srgbClr val="F8FAFC"/>
                </a:solidFill>
              </a:defRPr>
            </a:pPr>
            <a:r>
              <a:t>DocuSense AI</a:t>
            </a:r>
          </a:p>
          <a:p>
            <a:pPr>
              <a:defRPr sz="2000" b="1">
                <a:solidFill>
                  <a:srgbClr val="6366F1"/>
                </a:solidFill>
              </a:defRPr>
            </a:pPr>
            <a:r>
              <a:t>Intelligent Document Information Extractor &amp; Validation Platform</a:t>
            </a:r>
          </a:p>
          <a:p>
            <a:br/>
            <a:pPr>
              <a:defRPr sz="1300">
                <a:solidFill>
                  <a:srgbClr val="34D399"/>
                </a:solidFill>
              </a:defRPr>
            </a:pPr>
            <a:r>
              <a:t>Problem Statement 3: AI-Based Document Information Extractor (AI/ML Domain)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Team: 004_CACHE-CODE | Multi-Format OCR • TF-IDF ML Classifier • Gemini &amp; Local Extraction • 100-User Scalable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Problem Statement &amp; Industry Pain 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The Reality of Document Processing Chaos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Unstructured Ingestion Bottlenecks: </a:t>
            </a:r>
            <a:r>
              <a:rPr b="0">
                <a:solidFill>
                  <a:srgbClr val="94A3B8"/>
                </a:solidFill>
              </a:rPr>
              <a:t>Organizations process millions of PDFs, mobile camera scans, and multi-page receipts daily with zero standardized structure.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Silent LLM Hallucinations: </a:t>
            </a:r>
            <a:r>
              <a:rPr b="0">
                <a:solidFill>
                  <a:srgbClr val="94A3B8"/>
                </a:solidFill>
              </a:rPr>
              <a:t>Pure LLM extraction regularly invents missing dates or total amounts without checking arithmetic facts.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Zero Coordinate Traceability: </a:t>
            </a:r>
            <a:r>
              <a:rPr b="0">
                <a:solidFill>
                  <a:srgbClr val="94A3B8"/>
                </a:solidFill>
              </a:rPr>
              <a:t>Auditors cannot verify which paragraph, line, or bounding-box generated a specific critical field.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No Cross-Field Math Verification: </a:t>
            </a:r>
            <a:r>
              <a:rPr b="0">
                <a:solidFill>
                  <a:srgbClr val="94A3B8"/>
                </a:solidFill>
              </a:rPr>
              <a:t>Legacy OCR tools blindly extract Subtotal and Total without checking if Subtotal + Tax = Total.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How DocuSense AI Solves This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✓ Validation-First Architecture: </a:t>
            </a:r>
            <a:r>
              <a:rPr b="0">
                <a:solidFill>
                  <a:srgbClr val="94A3B8"/>
                </a:solidFill>
              </a:rPr>
              <a:t>Every extracted field is subjected to deterministic business rules, regex formats, and arithmetic cross-checks.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✓ 100% Coordinate BBox Traceability: </a:t>
            </a:r>
            <a:r>
              <a:rPr b="0">
                <a:solidFill>
                  <a:srgbClr val="94A3B8"/>
                </a:solidFill>
              </a:rPr>
              <a:t>Every extracted value links directly to original document page coordinates [ymin, xmin, ymax, xmax].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✓ Deterministic Math Verification: </a:t>
            </a:r>
            <a:r>
              <a:rPr b="0">
                <a:solidFill>
                  <a:srgbClr val="94A3B8"/>
                </a:solidFill>
              </a:rPr>
              <a:t>Instantly flags anomalies (e.g., Subtotal $1,420 vs Grand Total $1,450) and locks document in NEEDS_REVIEW.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✓ Explainable AI &amp; Forensic Audit: </a:t>
            </a:r>
            <a:r>
              <a:rPr b="0">
                <a:solidFill>
                  <a:srgbClr val="94A3B8"/>
                </a:solidFill>
              </a:rPr>
              <a:t>Flags synthetic forgery signals, tracks reviewer corrections immutably, and outputs clean structured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Executive Summary &amp; System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651760" cy="11887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5 Core Schemas + Custom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Invoices, Receipts, Certificates, Applications, Travel Tickets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097280"/>
            <a:ext cx="2651760" cy="11887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100% Held-Out Accuracy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TF-IDF + MultinomialNB ML Document Classifier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9" y="1097280"/>
            <a:ext cx="2651760" cy="11887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134 - 161 Req/Sec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100-Concurrent-User Load Test (0.00% Failure Rate)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399" y="1097280"/>
            <a:ext cx="2651760" cy="11887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24 Sector Workflows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Finance AP, HR Onboarding, Higher Ed, Banking KYC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1064240" cy="38404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Core Platform Pillars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1. Hybrid Multi-Engine Extraction: </a:t>
            </a:r>
            <a:r>
              <a:rPr b="0">
                <a:solidFill>
                  <a:srgbClr val="94A3B8"/>
                </a:solidFill>
              </a:rPr>
              <a:t>PyMuPDF text extraction + OpenCV preprocessing (CLAHE/Laplacian blur) + Gemini 2.5 Flash + Local Deterministic Fallback.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2. Automated Mathematical Validation: </a:t>
            </a:r>
            <a:r>
              <a:rPr b="0">
                <a:solidFill>
                  <a:srgbClr val="94A3B8"/>
                </a:solidFill>
              </a:rPr>
              <a:t>Cross-field invoice calculation, tax reconciliation, date parsing, email/phone verification, and SHA-256 duplicate warning.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3. Evidence-Linked Human Review: </a:t>
            </a:r>
            <a:r>
              <a:rPr b="0">
                <a:solidFill>
                  <a:srgbClr val="94A3B8"/>
                </a:solidFill>
              </a:rPr>
              <a:t>Side-by-side interactive document canvas with SVG bounding-box source highlighting and transactional reviewer audit trail.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4. Enterprise ERP &amp; Webhook Broadcast: </a:t>
            </a:r>
            <a:r>
              <a:rPr b="0">
                <a:solidFill>
                  <a:srgbClr val="94A3B8"/>
                </a:solidFill>
              </a:rPr>
              <a:t>Built-in adapters to push verified structured documents directly into SAP S/4HANA, Salesforce, Workday, QuickBooks, and webhooks.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5. Real Scalability &amp; Concurrency: </a:t>
            </a:r>
            <a:r>
              <a:rPr b="0">
                <a:solidFill>
                  <a:srgbClr val="94A3B8"/>
                </a:solidFill>
              </a:rPr>
              <a:t>Verified with 100 concurrent simulated users executing 600 simultaneous requests with zero errors on local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858000" cy="5212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097280"/>
            <a:ext cx="40233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Full-Stack Technology Stack</a:t>
            </a:r>
          </a:p>
          <a:p>
            <a:pPr>
              <a:defRPr b="1" sz="1050">
                <a:solidFill>
                  <a:srgbClr val="2DD4BF"/>
                </a:solidFill>
              </a:defRPr>
            </a:pPr>
            <a:r>
              <a:t>Frontend Client: </a:t>
            </a:r>
            <a:r>
              <a:rPr b="0">
                <a:solidFill>
                  <a:srgbClr val="94A3B8"/>
                </a:solidFill>
              </a:rPr>
              <a:t>React 19 + TypeScript + Vite, Tailwind-grade Vanilla CSS tokens, Lucide icons, persistent Indigo/Teal theme.</a:t>
            </a:r>
          </a:p>
          <a:p>
            <a:pPr>
              <a:defRPr b="1" sz="1050">
                <a:solidFill>
                  <a:srgbClr val="2DD4BF"/>
                </a:solidFill>
              </a:defRPr>
            </a:pPr>
            <a:r>
              <a:t>Backend Server: </a:t>
            </a:r>
            <a:r>
              <a:rPr b="0">
                <a:solidFill>
                  <a:srgbClr val="94A3B8"/>
                </a:solidFill>
              </a:rPr>
              <a:t>FastAPI (Python 3.14) asynchronous gateway with OpenAPI / Swagger contracts and rate-limiting.</a:t>
            </a:r>
          </a:p>
          <a:p>
            <a:pPr>
              <a:defRPr b="1" sz="1050">
                <a:solidFill>
                  <a:srgbClr val="2DD4BF"/>
                </a:solidFill>
              </a:defRPr>
            </a:pPr>
            <a:r>
              <a:t>Persistence: </a:t>
            </a:r>
            <a:r>
              <a:rPr b="0">
                <a:solidFill>
                  <a:srgbClr val="94A3B8"/>
                </a:solidFill>
              </a:rPr>
              <a:t>SQLAlchemy ORM with SQLite WAL mode; zero-friction migration path to PostgreSQL.</a:t>
            </a:r>
          </a:p>
          <a:p>
            <a:pPr>
              <a:defRPr b="1" sz="1050">
                <a:solidFill>
                  <a:srgbClr val="2DD4BF"/>
                </a:solidFill>
              </a:defRPr>
            </a:pPr>
            <a:r>
              <a:t>ML Classifier: </a:t>
            </a:r>
            <a:r>
              <a:rPr b="0">
                <a:solidFill>
                  <a:srgbClr val="94A3B8"/>
                </a:solidFill>
              </a:rPr>
              <a:t>Scikit-Learn TF-IDF vectorizer + Multinomial Naive Bayes persisted via joblib.</a:t>
            </a:r>
          </a:p>
          <a:p>
            <a:pPr>
              <a:defRPr b="1" sz="1050">
                <a:solidFill>
                  <a:srgbClr val="2DD4BF"/>
                </a:solidFill>
              </a:defRPr>
            </a:pPr>
            <a:r>
              <a:t>OCR &amp; Vision: </a:t>
            </a:r>
            <a:r>
              <a:rPr b="0">
                <a:solidFill>
                  <a:srgbClr val="94A3B8"/>
                </a:solidFill>
              </a:rPr>
              <a:t>PyMuPDF (fitz 1.28.2) + OpenCV (cv2 4.13) CLAHE contrast and Laplacian blur evaluation.</a:t>
            </a:r>
          </a:p>
          <a:p>
            <a:pPr>
              <a:defRPr b="1" sz="1050">
                <a:solidFill>
                  <a:srgbClr val="2DD4BF"/>
                </a:solidFill>
              </a:defRPr>
            </a:pPr>
            <a:r>
              <a:t>Semantic LLM: </a:t>
            </a:r>
            <a:r>
              <a:rPr b="0">
                <a:solidFill>
                  <a:srgbClr val="94A3B8"/>
                </a:solidFill>
              </a:rPr>
              <a:t>Google Gemini 2.5 Flash via google-genai SDK with bounded retries &amp; local rule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Data Flow &amp; Ingestion Pipeline</a:t>
            </a:r>
          </a:p>
        </p:txBody>
      </p:sp>
      <p:pic>
        <p:nvPicPr>
          <p:cNvPr id="3" name="Picture 2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858000" cy="5212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097280"/>
            <a:ext cx="40233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Auditable Pipeline Stages</a:t>
            </a:r>
          </a:p>
          <a:p>
            <a:pPr>
              <a:defRPr b="1" sz="1000">
                <a:solidFill>
                  <a:srgbClr val="34D399"/>
                </a:solidFill>
              </a:defRPr>
            </a:pPr>
            <a:r>
              <a:t>Stage 1: Ingestion &amp; Magic Bytes</a:t>
            </a:r>
            <a:r>
              <a:rPr b="0">
                <a:solidFill>
                  <a:srgbClr val="94A3B8"/>
                </a:solidFill>
              </a:rPr>
              <a:t>
Validates file signatures (PDF, PNG, JPG, TIFF), computes SHA-256 hash to detect duplicates without overwriting.</a:t>
            </a:r>
          </a:p>
          <a:p>
            <a:pPr>
              <a:defRPr b="1" sz="1000">
                <a:solidFill>
                  <a:srgbClr val="34D399"/>
                </a:solidFill>
              </a:defRPr>
            </a:pPr>
            <a:r>
              <a:t>Stage 2: OCR &amp; Preprocessing</a:t>
            </a:r>
            <a:r>
              <a:rPr b="0">
                <a:solidFill>
                  <a:srgbClr val="94A3B8"/>
                </a:solidFill>
              </a:rPr>
              <a:t>
Extracts text blocks, word spans, and bounding boxes. Evaluates blur variance and contrast.</a:t>
            </a:r>
          </a:p>
          <a:p>
            <a:pPr>
              <a:defRPr b="1" sz="1000">
                <a:solidFill>
                  <a:srgbClr val="34D399"/>
                </a:solidFill>
              </a:defRPr>
            </a:pPr>
            <a:r>
              <a:t>Stage 3: ML Classification</a:t>
            </a:r>
            <a:r>
              <a:rPr b="0">
                <a:solidFill>
                  <a:srgbClr val="94A3B8"/>
                </a:solidFill>
              </a:rPr>
              <a:t>
Assigns category (invoice, receipt, certificate, form, ticket) with confidence score.</a:t>
            </a:r>
          </a:p>
          <a:p>
            <a:pPr>
              <a:defRPr b="1" sz="1000">
                <a:solidFill>
                  <a:srgbClr val="34D399"/>
                </a:solidFill>
              </a:defRPr>
            </a:pPr>
            <a:r>
              <a:t>Stage 4: Extraction &amp; Normalization</a:t>
            </a:r>
            <a:r>
              <a:rPr b="0">
                <a:solidFill>
                  <a:srgbClr val="94A3B8"/>
                </a:solidFill>
              </a:rPr>
              <a:t>
Applies Gemini structured schema or deterministic layout rules; preserves raw &amp; normalized values.</a:t>
            </a:r>
          </a:p>
          <a:p>
            <a:pPr>
              <a:defRPr b="1" sz="1000">
                <a:solidFill>
                  <a:srgbClr val="34D399"/>
                </a:solidFill>
              </a:defRPr>
            </a:pPr>
            <a:r>
              <a:t>Stage 5: Business Rule Validation</a:t>
            </a:r>
            <a:r>
              <a:rPr b="0">
                <a:solidFill>
                  <a:srgbClr val="94A3B8"/>
                </a:solidFill>
              </a:rPr>
              <a:t>
Runs cross-field arithmetic checks, email/phone format validation, and flags discrepancies.</a:t>
            </a:r>
          </a:p>
          <a:p>
            <a:pPr>
              <a:defRPr b="1" sz="1000">
                <a:solidFill>
                  <a:srgbClr val="34D399"/>
                </a:solidFill>
              </a:defRPr>
            </a:pPr>
            <a:r>
              <a:t>Stage 6: Human Review &amp; Export</a:t>
            </a:r>
            <a:r>
              <a:rPr b="0">
                <a:solidFill>
                  <a:srgbClr val="94A3B8"/>
                </a:solidFill>
              </a:rPr>
              <a:t>
Reviewer corrects uncertain fields; records approval in audit log; exports to JSON, CSV, or ERP.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AI/ML Document Classifier — Held-Out Test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Scikit-Learn ML Model Architecture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Algorithm: </a:t>
            </a:r>
            <a:r>
              <a:rPr b="0">
                <a:solidFill>
                  <a:srgbClr val="94A3B8"/>
                </a:solidFill>
              </a:rPr>
              <a:t>TF-IDF Vectorizer (unigram + bigram, sublinear TF scaling) + Multinomial Naive Bayes (alpha=0.1).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Zero Data Leakage: </a:t>
            </a:r>
            <a:r>
              <a:rPr b="0">
                <a:solidFill>
                  <a:srgbClr val="94A3B8"/>
                </a:solidFill>
              </a:rPr>
              <a:t>Pipeline fitted strictly on the 75% training fold; evaluated on a separate 25% held-out test fold.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Dataset Composition: </a:t>
            </a:r>
            <a:r>
              <a:rPr b="0">
                <a:solidFill>
                  <a:srgbClr val="94A3B8"/>
                </a:solidFill>
              </a:rPr>
              <a:t>60 multi-domain real-world document samples spanning Invoices, Receipts, Certificates, Applications, Travel Tickets, and Out-of-Distribution memos.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Active Runtime Artifact: </a:t>
            </a:r>
            <a:r>
              <a:rPr b="0">
                <a:solidFill>
                  <a:srgbClr val="94A3B8"/>
                </a:solidFill>
              </a:rPr>
              <a:t>Persisted in backend/app/ml_artifacts/document_classifier.joblib with live on-demand retraining endpoint.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Measured Performance Metrics (100% Accuracy)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Overall Test Accuracy: 100.00% (15/15 Held-out Samples)</a:t>
            </a:r>
          </a:p>
          <a:p>
            <a:pPr>
              <a:defRPr sz="950" b="0">
                <a:solidFill>
                  <a:srgbClr val="F8FAFC"/>
                </a:solidFill>
              </a:defRPr>
            </a:pPr>
            <a:r>
              <a:t>----------------------------------------------------------</a:t>
            </a:r>
          </a:p>
          <a:p>
            <a:pPr>
              <a:defRPr sz="950" b="0">
                <a:solidFill>
                  <a:srgbClr val="F8FAFC"/>
                </a:solidFill>
              </a:defRPr>
            </a:pPr>
            <a:r>
              <a:t>Class              Precision    Recall    F1-Score  Support</a:t>
            </a:r>
          </a:p>
          <a:p>
            <a:pPr>
              <a:defRPr sz="950" b="0">
                <a:solidFill>
                  <a:srgbClr val="34D399"/>
                </a:solidFill>
              </a:defRPr>
            </a:pPr>
            <a:r>
              <a:t>application_form      1.00       1.00       1.00       2</a:t>
            </a:r>
          </a:p>
          <a:p>
            <a:pPr>
              <a:defRPr sz="950" b="0">
                <a:solidFill>
                  <a:srgbClr val="34D399"/>
                </a:solidFill>
              </a:defRPr>
            </a:pPr>
            <a:r>
              <a:t>certificate           1.00       1.00       1.00       2</a:t>
            </a:r>
          </a:p>
          <a:p>
            <a:pPr>
              <a:defRPr sz="950" b="0">
                <a:solidFill>
                  <a:srgbClr val="34D399"/>
                </a:solidFill>
              </a:defRPr>
            </a:pPr>
            <a:r>
              <a:t>invoice               1.00       1.00       1.00       3</a:t>
            </a:r>
          </a:p>
          <a:p>
            <a:pPr>
              <a:defRPr sz="950" b="0">
                <a:solidFill>
                  <a:srgbClr val="34D399"/>
                </a:solidFill>
              </a:defRPr>
            </a:pPr>
            <a:r>
              <a:t>receipt               1.00       1.00       1.00       3</a:t>
            </a:r>
          </a:p>
          <a:p>
            <a:pPr>
              <a:defRPr sz="950" b="0">
                <a:solidFill>
                  <a:srgbClr val="34D399"/>
                </a:solidFill>
              </a:defRPr>
            </a:pPr>
            <a:r>
              <a:t>travel_ticket         1.00       1.00       1.00       3</a:t>
            </a:r>
          </a:p>
          <a:p>
            <a:pPr>
              <a:defRPr sz="950" b="0">
                <a:solidFill>
                  <a:srgbClr val="34D399"/>
                </a:solidFill>
              </a:defRPr>
            </a:pPr>
            <a:r>
              <a:t>unclassified          1.00       1.00       1.00       2</a:t>
            </a:r>
          </a:p>
          <a:p>
            <a:pPr>
              <a:defRPr sz="950" b="0">
                <a:solidFill>
                  <a:srgbClr val="F8FAFC"/>
                </a:solidFill>
              </a:defRPr>
            </a:pPr>
            <a:r>
              <a:t>----------------------------------------------------------</a:t>
            </a:r>
          </a:p>
          <a:p>
            <a:pPr>
              <a:defRPr sz="950" b="0">
                <a:solidFill>
                  <a:srgbClr val="34D399"/>
                </a:solidFill>
              </a:defRPr>
            </a:pPr>
            <a:r>
              <a:t>Macro Avg:            1.00       1.00       1.00      15</a:t>
            </a:r>
          </a:p>
          <a:p>
            <a:pPr>
              <a:defRPr sz="950" b="0">
                <a:solidFill>
                  <a:srgbClr val="34D399"/>
                </a:solidFill>
              </a:defRPr>
            </a:pPr>
            <a:r>
              <a:t>Weighted Avg:         1.00       1.00       1.00      15</a:t>
            </a:r>
          </a:p>
          <a:p>
            <a:pPr>
              <a:defRPr sz="950" b="0">
                <a:solidFill>
                  <a:srgbClr val="F8FAFC"/>
                </a:solidFill>
              </a:defRPr>
            </a:pP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Confusion Matrix: Perfect diagonal matrix with 0 misclassifications.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Multi-Engine OCR &amp; Computer Vision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Digital Vector Extraction (PyMuPDF)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Native C-Extension Speed: </a:t>
            </a:r>
            <a:r>
              <a:rPr b="0">
                <a:solidFill>
                  <a:srgbClr val="94A3B8"/>
                </a:solidFill>
              </a:rPr>
              <a:t>Extracts full text and word spans in &lt;15ms per page with zero GPU overhead.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Exact Word Coordinates: </a:t>
            </a:r>
            <a:r>
              <a:rPr b="0">
                <a:solidFill>
                  <a:srgbClr val="94A3B8"/>
                </a:solidFill>
              </a:rPr>
              <a:t>Captures bounding-box geometries [ymin, xmin, ymax, xmax] as percentage coordinates for seamless responsive canvas scaling.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Font &amp; Metadata Extraction: </a:t>
            </a:r>
            <a:r>
              <a:rPr b="0">
                <a:solidFill>
                  <a:srgbClr val="94A3B8"/>
                </a:solidFill>
              </a:rPr>
              <a:t>Extracts embedded font families, PDF producer metadata, and vector drawing streams for authenticity verification.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Multi-Page Traversal: </a:t>
            </a:r>
            <a:r>
              <a:rPr b="0">
                <a:solidFill>
                  <a:srgbClr val="94A3B8"/>
                </a:solidFill>
              </a:rPr>
              <a:t>Sequentially indexes multi-page contracts, invoices, and transcripts with page-by-page coordinate anchors.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Computer Vision Pipeline (OpenCV)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Laplacian Blur Variance Scoring: </a:t>
            </a:r>
            <a:r>
              <a:rPr b="0">
                <a:solidFill>
                  <a:srgbClr val="94A3B8"/>
                </a:solidFill>
              </a:rPr>
              <a:t>Computes Laplace transform variance to classify scans into High Quality, Low Quality, or Degraded Blurry images.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CLAHE Contrast Equalization: </a:t>
            </a:r>
            <a:r>
              <a:rPr b="0">
                <a:solidFill>
                  <a:srgbClr val="94A3B8"/>
                </a:solidFill>
              </a:rPr>
              <a:t>Applies Contrast Limited Adaptive Histogram Equalization to recover faded camera scans and low-contrast thermal receipts.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Automated Deskew Detection: </a:t>
            </a:r>
            <a:r>
              <a:rPr b="0">
                <a:solidFill>
                  <a:srgbClr val="94A3B8"/>
                </a:solidFill>
              </a:rPr>
              <a:t>Detects document rotation angles using minimum-area bounding rectangles and realigns tilted camera captures.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PaddleOCR Diagnostic Fallback: </a:t>
            </a:r>
            <a:r>
              <a:rPr b="0">
                <a:solidFill>
                  <a:srgbClr val="94A3B8"/>
                </a:solidFill>
              </a:rPr>
              <a:t>Detects runtime Python 3.14 Windows environment and gracefully falls back to deterministic vision filtering without crashing.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Explainable Validation &amp; Mathematical Cross-Checking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The Invoice Math Discrepancy Case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Scenario: </a:t>
            </a:r>
            <a:r>
              <a:rPr b="0">
                <a:solidFill>
                  <a:srgbClr val="94A3B8"/>
                </a:solidFill>
              </a:rPr>
              <a:t>Tax invoice uploaded with Subtotal = $1,420.00 and Grand Total = $1,450.00, but no line item tax declared.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Naive OCR Flaw: </a:t>
            </a:r>
            <a:r>
              <a:rPr b="0">
                <a:solidFill>
                  <a:srgbClr val="94A3B8"/>
                </a:solidFill>
              </a:rPr>
              <a:t>Legacy extraction systems accept both numbers or hallucinate a $30 tax to make them balance.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DocuSense AI Validation: </a:t>
            </a:r>
            <a:r>
              <a:rPr b="0">
                <a:solidFill>
                  <a:srgbClr val="94A3B8"/>
                </a:solidFill>
              </a:rPr>
              <a:t>1. Computes delta: |1420.00 - 1450.00| = $30.00 unaccounted difference.</a:t>
            </a:r>
          </a:p>
          <a:p>
            <a:pPr>
              <a:defRPr b="1" sz="1050">
                <a:solidFill>
                  <a:srgbClr val="FBBF24"/>
                </a:solidFill>
              </a:defRPr>
            </a:pPr>
            <a:r>
              <a:t>2. Triggers Rule Finding: </a:t>
            </a:r>
            <a:r>
              <a:rPr b="0">
                <a:solidFill>
                  <a:srgbClr val="94A3B8"/>
                </a:solidFill>
              </a:rPr>
              <a:t>ARITHMETIC_MISMATCH: Subtotal ($1,420.00) does not match Total Amount ($1,450.00).</a:t>
            </a:r>
          </a:p>
          <a:p>
            <a:pPr>
              <a:defRPr b="1" sz="1050">
                <a:solidFill>
                  <a:srgbClr val="FBBF24"/>
                </a:solidFill>
              </a:defRPr>
            </a:pPr>
            <a:r>
              <a:t>3. Prevents Auto-Approval: </a:t>
            </a:r>
            <a:r>
              <a:rPr b="0">
                <a:solidFill>
                  <a:srgbClr val="94A3B8"/>
                </a:solidFill>
              </a:rPr>
              <a:t>Locks document status to NEEDS_REVIEW. Human auditor must approve or reject.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4. Authenticity Flag: </a:t>
            </a:r>
            <a:r>
              <a:rPr b="0">
                <a:solidFill>
                  <a:srgbClr val="94A3B8"/>
                </a:solidFill>
              </a:rPr>
              <a:t>Flags AUTHENTICITY_WARNING: Cross-Field Arithmetic Discrepancy indicator.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Comprehensive Validation Suite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Format &amp; Regex Validators: </a:t>
            </a:r>
            <a:r>
              <a:rPr b="0">
                <a:solidFill>
                  <a:srgbClr val="94A3B8"/>
                </a:solidFill>
              </a:rPr>
              <a:t>Validates ISO dates, standardizes YYYY-MM-DD, checks RFC email formats, and E.164 phone numbers.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Multi-Location Conflict Resolution: </a:t>
            </a:r>
            <a:r>
              <a:rPr b="0">
                <a:solidFill>
                  <a:srgbClr val="94A3B8"/>
                </a:solidFill>
              </a:rPr>
              <a:t>When multiple competing values are found across pages, all candidates are preserved in evidence_json.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SHA-256 Duplicate Upload Guard: </a:t>
            </a:r>
            <a:r>
              <a:rPr b="0">
                <a:solidFill>
                  <a:srgbClr val="94A3B8"/>
                </a:solidFill>
              </a:rPr>
              <a:t>Duplicate uploads are given unique tracking IDs and flagged with DUPLICATE_UPLOAD_WARNING without overwriting previous records.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Zero Auto-Approval Rule: </a:t>
            </a:r>
            <a:r>
              <a:rPr b="0">
                <a:solidFill>
                  <a:srgbClr val="94A3B8"/>
                </a:solidFill>
              </a:rPr>
              <a:t>No document with unresolved required field failures or arithmetic errors can ever be automatically approved.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Interactive Evidence-Linked Review Workspace</a:t>
            </a:r>
          </a:p>
        </p:txBody>
      </p:sp>
      <p:pic>
        <p:nvPicPr>
          <p:cNvPr id="3" name="Picture 2" descr="workspac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858000" cy="5212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097280"/>
            <a:ext cx="40233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Human-in-the-Loop Features</a:t>
            </a:r>
          </a:p>
          <a:p>
            <a:pPr>
              <a:defRPr b="1" sz="1050">
                <a:solidFill>
                  <a:srgbClr val="34D399"/>
                </a:solidFill>
              </a:defRPr>
            </a:pPr>
            <a:r>
              <a:t>Visual Evidence Highlighting: </a:t>
            </a:r>
            <a:r>
              <a:rPr b="0">
                <a:solidFill>
                  <a:srgbClr val="94A3B8"/>
                </a:solidFill>
              </a:rPr>
              <a:t>
Clicking any field smoothly scrolls the document viewer and highlights the exact SVG bounding box.</a:t>
            </a:r>
          </a:p>
          <a:p>
            <a:pPr>
              <a:defRPr b="1" sz="1050">
                <a:solidFill>
                  <a:srgbClr val="34D399"/>
                </a:solidFill>
              </a:defRPr>
            </a:pPr>
            <a:r>
              <a:t>Inline Field Correction: </a:t>
            </a:r>
            <a:r>
              <a:rPr b="0">
                <a:solidFill>
                  <a:srgbClr val="94A3B8"/>
                </a:solidFill>
              </a:rPr>
              <a:t>
Reviewers can directly edit values; prompts for reviewer ID and audit reason.</a:t>
            </a:r>
          </a:p>
          <a:p>
            <a:pPr>
              <a:defRPr b="1" sz="1050">
                <a:solidFill>
                  <a:srgbClr val="34D399"/>
                </a:solidFill>
              </a:defRPr>
            </a:pPr>
            <a:r>
              <a:t>Auditable State Machine: </a:t>
            </a:r>
            <a:r>
              <a:rPr b="0">
                <a:solidFill>
                  <a:srgbClr val="94A3B8"/>
                </a:solidFill>
              </a:rPr>
              <a:t>
UPLOADED -&gt; PROCESSING -&gt; NEEDS_REVIEW / READY_FOR_REVIEW -&gt; APPROVED or REJECTED.</a:t>
            </a:r>
          </a:p>
          <a:p>
            <a:pPr>
              <a:defRPr b="1" sz="1050">
                <a:solidFill>
                  <a:srgbClr val="34D399"/>
                </a:solidFill>
              </a:defRPr>
            </a:pPr>
            <a:r>
              <a:t>Review Corrections Table: </a:t>
            </a:r>
            <a:r>
              <a:rPr b="0">
                <a:solidFill>
                  <a:srgbClr val="94A3B8"/>
                </a:solidFill>
              </a:rPr>
              <a:t>
Persists previous_value, corrected_value, reason, reviewer_id, and UTC timestamp transactionally.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AI Copilot &amp; Forensic Authenticity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Document Audit &amp; Inquiry Copilot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Real Data Context: </a:t>
            </a:r>
            <a:r>
              <a:rPr b="0">
                <a:solidFill>
                  <a:srgbClr val="94A3B8"/>
                </a:solidFill>
              </a:rPr>
              <a:t>The Copilot queries live SQLAlchemy records for the selected document rather than hallucinating generic answers.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Explain Classification: </a:t>
            </a:r>
            <a:r>
              <a:rPr b="0">
                <a:solidFill>
                  <a:srgbClr val="94A3B8"/>
                </a:solidFill>
              </a:rPr>
              <a:t>Explains why a document was classified as an invoice or certificate, showing matched keyword counts and ML probabilities.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Audit Missing Fields: </a:t>
            </a:r>
            <a:r>
              <a:rPr b="0">
                <a:solidFill>
                  <a:srgbClr val="94A3B8"/>
                </a:solidFill>
              </a:rPr>
              <a:t>Compares extracted document keys against the active schema definition to highlight missing compliance fields.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Explain Corrections: </a:t>
            </a:r>
            <a:r>
              <a:rPr b="0">
                <a:solidFill>
                  <a:srgbClr val="94A3B8"/>
                </a:solidFill>
              </a:rPr>
              <a:t>Produces an instant markdown timeline of human auditor overrides, showing who changed what and why.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Voice Synthesis &amp; Mic: </a:t>
            </a:r>
            <a:r>
              <a:rPr b="0">
                <a:solidFill>
                  <a:srgbClr val="94A3B8"/>
                </a:solidFill>
              </a:rPr>
              <a:t>Built-in speech-to-text input and synthetic speech readout for hands-free auditor review.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AI Authenticity &amp; Forensic Analysis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Mathematical Forensic Checks: </a:t>
            </a:r>
            <a:r>
              <a:rPr b="0">
                <a:solidFill>
                  <a:srgbClr val="94A3B8"/>
                </a:solidFill>
              </a:rPr>
              <a:t>Flags tampering when itemized lines or tax rates fail to calculate to the grand total.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Metadata Producer Verification: </a:t>
            </a:r>
            <a:r>
              <a:rPr b="0">
                <a:solidFill>
                  <a:srgbClr val="94A3B8"/>
                </a:solidFill>
              </a:rPr>
              <a:t>Inspects PDF creator strings (e.g., Canva, ReportLab, Adobe Distiller) to identify synthetic generation.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Font Consistency &amp; Layout Anomalies: </a:t>
            </a:r>
            <a:r>
              <a:rPr b="0">
                <a:solidFill>
                  <a:srgbClr val="94A3B8"/>
                </a:solidFill>
              </a:rPr>
              <a:t>Detects mismatched font sizes or unusual alignment that indicates spliced values.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Overall Authenticity Scoring: </a:t>
            </a:r>
            <a:r>
              <a:rPr b="0">
                <a:solidFill>
                  <a:srgbClr val="94A3B8"/>
                </a:solidFill>
              </a:rPr>
              <a:t>Computes a composite Authenticity Score (0-100%) and categorizes risk into LOW, MEDIUM, or HIGH.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4 Enterprise Sector Innovation Hubs (24 Specialized Workflows)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256032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Finance &amp; Accounts Payable (6 Workflows)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Automated 3-Way Purchase Order Matching (Invoice &lt;-&gt; PO &lt;-&gt; Goods Receipt)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Real-Time FX Currency Converter &amp; Reverse Charge Tax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Vendor Bank Account / IBAN Fraud &amp; Verification Guard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Early Payment Dynamic Discount Optimization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E-Way Bill &amp; GSTIN Portal Active Verification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Carbon Offset &amp; Paperless Footprint Metric Estimator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256032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HR &amp; Employee Onboarding (6 Workflows)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Automated PII Redaction for GDPR &amp; HIPAA Compliance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Global Salary &amp; Relocation Cost Benchmark Normalizer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Identity Document Cross-Verification (Passport vs Driver License)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Automated Background Check Discrepancy Flagging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Visa &amp; Right-to-Work Expiration Timeline Monitor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Automated Relocation Expense Claim Deduplicator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5394960" cy="256032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Higher Education Admissions (6 Workflows)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International GPA Normalizer (WES 4.0 Equivalent Scale)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University Accreditation &amp; UGC / NAAC Registry Validator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Course Prerequisite &amp; Transcript Credit Transfer Mapper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Plagiarism &amp; AI Statement-of-Purpose Anomaly Detector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Standardized Test Score Official Verification (GRE / TOEFL / IELTS)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Tuition Fee Scholarship Eligibility Auto-Scoring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394960" cy="256032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FinTech, Banking &amp; KYC Compliance (6 Workflows)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Automated AML &amp; Sanctions PEP List Cross-Check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Biometric Face Matcher (Passport Photo &lt;-&gt; Live Camera Selfie)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Utility Bill Geolocation &amp; Address Proof Matcher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Financial Statement Debt-to-Income &amp; Cash-Flow Analyzer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Tax Return (Form 1040 / ITR-V) Income Consistency Verifier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Credit Risk Profile Scoring &amp; Underwriting Recommender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Modern Multi-Modal Tools: Camera Scan, Compare &amp;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34747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Direct Webcam Document Scanner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Live Video Stream: </a:t>
            </a:r>
            <a:r>
              <a:rPr b="0">
                <a:solidFill>
                  <a:srgbClr val="94A3B8"/>
                </a:solidFill>
              </a:rPr>
              <a:t>Streams camera feed with animated document alignment viewfinder box.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Hardware Fallback: </a:t>
            </a:r>
            <a:r>
              <a:rPr b="0">
                <a:solidFill>
                  <a:srgbClr val="94A3B8"/>
                </a:solidFill>
              </a:rPr>
              <a:t>Graceful handling when webcam is unavailable; supports one-click fixture photo upload.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Instant Ingestion: </a:t>
            </a:r>
            <a:r>
              <a:rPr b="0">
                <a:solidFill>
                  <a:srgbClr val="94A3B8"/>
                </a:solidFill>
              </a:rPr>
              <a:t>Captures canvas snapshot, encodes as PNG, and immediately sends to ingestion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97280"/>
            <a:ext cx="34747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Side-by-Side Document Compare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Multi-Doc Selection: </a:t>
            </a:r>
            <a:r>
              <a:rPr b="0">
                <a:solidFill>
                  <a:srgbClr val="94A3B8"/>
                </a:solidFill>
              </a:rPr>
              <a:t>Compare two documents (e.g., PO vs Invoice, or Original vs Revision).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Diff Matrix: </a:t>
            </a:r>
            <a:r>
              <a:rPr b="0">
                <a:solidFill>
                  <a:srgbClr val="94A3B8"/>
                </a:solidFill>
              </a:rPr>
              <a:t>Side-by-side field comparison table with automatic delta calculation.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Mismatch Highlighting: </a:t>
            </a:r>
            <a:r>
              <a:rPr b="0">
                <a:solidFill>
                  <a:srgbClr val="94A3B8"/>
                </a:solidFill>
              </a:rPr>
              <a:t>Highlights discrepancies in red/amber for rapid auditing.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97280"/>
            <a:ext cx="35661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AI Voice Copilot &amp; Batch Analytics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Voice Synthesizer: </a:t>
            </a:r>
            <a:r>
              <a:rPr b="0">
                <a:solidFill>
                  <a:srgbClr val="94A3B8"/>
                </a:solidFill>
              </a:rPr>
              <a:t>Reads out missing fields and audit flags hands-free.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Speech Recognition: </a:t>
            </a:r>
            <a:r>
              <a:rPr b="0">
                <a:solidFill>
                  <a:srgbClr val="94A3B8"/>
                </a:solidFill>
              </a:rPr>
              <a:t>Allows auditors to ask queries via microphone.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Batch Analytics: </a:t>
            </a:r>
            <a:r>
              <a:rPr b="0">
                <a:solidFill>
                  <a:srgbClr val="94A3B8"/>
                </a:solidFill>
              </a:rPr>
              <a:t>Aggregated throughput, accuracy rate, and category distribution charts.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Enterprise Multi-ERP &amp; Webhook Broadcast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Out-of-the-Box ERP Adapters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SAP S/4HANA (OData / IDoc): </a:t>
            </a:r>
            <a:r>
              <a:rPr b="0">
                <a:solidFill>
                  <a:srgbClr val="94A3B8"/>
                </a:solidFill>
              </a:rPr>
              <a:t>Formats validated invoice lines into SAP-compliant IDoc XML/JSON for direct posting to Finance Accounting (FI/CO).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Salesforce (CRM Cloud): </a:t>
            </a:r>
            <a:r>
              <a:rPr b="0">
                <a:solidFill>
                  <a:srgbClr val="94A3B8"/>
                </a:solidFill>
              </a:rPr>
              <a:t>Syncs applicant data, contact records, and KYC compliance records into Salesforce Lead/Contact objects.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Workday HRIS (REST API): </a:t>
            </a:r>
            <a:r>
              <a:rPr b="0">
                <a:solidFill>
                  <a:srgbClr val="94A3B8"/>
                </a:solidFill>
              </a:rPr>
              <a:t>Maps extracted resume/application details directly into Workday Candidate profiles.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QuickBooks Online (V3 API): </a:t>
            </a:r>
            <a:r>
              <a:rPr b="0">
                <a:solidFill>
                  <a:srgbClr val="94A3B8"/>
                </a:solidFill>
              </a:rPr>
              <a:t>Pushes small business vendor invoices directly into Accounts Payable expense entries.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Custom Webhooks (HTTPS POST): </a:t>
            </a:r>
            <a:r>
              <a:rPr b="0">
                <a:solidFill>
                  <a:srgbClr val="94A3B8"/>
                </a:solidFill>
              </a:rPr>
              <a:t>Configurable webhook dispatcher with custom HMAC signatures and retry policies.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Enterprise Security &amp; Compliance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Live Payload Preview: </a:t>
            </a:r>
            <a:r>
              <a:rPr b="0">
                <a:solidFill>
                  <a:srgbClr val="94A3B8"/>
                </a:solidFill>
              </a:rPr>
              <a:t>Auditors can inspect generated JSON/XML payload structures before broadcasting to production systems.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TLS 1.3 Transport Security: </a:t>
            </a:r>
            <a:r>
              <a:rPr b="0">
                <a:solidFill>
                  <a:srgbClr val="94A3B8"/>
                </a:solidFill>
              </a:rPr>
              <a:t>All webhook endpoints enforce end-to-end encrypted HTTPS transmission.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Audit Dispatch Logging: </a:t>
            </a:r>
            <a:r>
              <a:rPr b="0">
                <a:solidFill>
                  <a:srgbClr val="94A3B8"/>
                </a:solidFill>
              </a:rPr>
              <a:t>Every broadcast logs an immutable event in the audit trail with HTTP status code and response payload.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Export Formats: </a:t>
            </a:r>
            <a:r>
              <a:rPr b="0">
                <a:solidFill>
                  <a:srgbClr val="94A3B8"/>
                </a:solidFill>
              </a:rPr>
              <a:t>Supports JSON, CSV, SAP IDoc XML, and direct REST/OData API push.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Scalability &amp; 100-Concurrent-User Readiness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Reproducible Load Test Benchmark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Simulation Tool: </a:t>
            </a:r>
            <a:r>
              <a:rPr b="0">
                <a:solidFill>
                  <a:srgbClr val="94A3B8"/>
                </a:solidFill>
              </a:rPr>
              <a:t>concurrent.futures.ThreadPoolExecutor with 100 active worker threads executing full user workflows.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Total Requests: </a:t>
            </a:r>
            <a:r>
              <a:rPr b="0">
                <a:solidFill>
                  <a:srgbClr val="94A3B8"/>
                </a:solidFill>
              </a:rPr>
              <a:t>600 simultaneous requests executed in 3.71 - 4.47 seconds.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Success Rate: </a:t>
            </a:r>
            <a:r>
              <a:rPr b="0">
                <a:solidFill>
                  <a:srgbClr val="94A3B8"/>
                </a:solidFill>
              </a:rPr>
              <a:t>100.00% (600/600 requests succeeded with zero drops or 500 errors).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Failure Rate: </a:t>
            </a:r>
            <a:r>
              <a:rPr b="0">
                <a:solidFill>
                  <a:srgbClr val="94A3B8"/>
                </a:solidFill>
              </a:rPr>
              <a:t>0.00% across all endpoints.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Throughput: </a:t>
            </a:r>
            <a:r>
              <a:rPr b="0">
                <a:solidFill>
                  <a:srgbClr val="94A3B8"/>
                </a:solidFill>
              </a:rPr>
              <a:t>134.08 - 161.66 requests per second (RPS).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Reproducible Script: </a:t>
            </a:r>
            <a:r>
              <a:rPr b="0">
                <a:solidFill>
                  <a:srgbClr val="94A3B8"/>
                </a:solidFill>
              </a:rPr>
              <a:t>Saved at tests/load_test_100_users.py; results saved in tests/load_test_results.json.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Latency Percentiles &amp; Architecture Readiness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Minimum Latency: </a:t>
            </a:r>
            <a:r>
              <a:rPr b="0">
                <a:solidFill>
                  <a:srgbClr val="34D399"/>
                </a:solidFill>
              </a:rPr>
              <a:t>5.44 - 7.42 ms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Mean Latency: </a:t>
            </a:r>
            <a:r>
              <a:rPr b="0">
                <a:solidFill>
                  <a:srgbClr val="94A3B8"/>
                </a:solidFill>
              </a:rPr>
              <a:t>513.22 - 625.85 ms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Median Latency (p50): </a:t>
            </a:r>
            <a:r>
              <a:rPr b="0">
                <a:solidFill>
                  <a:srgbClr val="94A3B8"/>
                </a:solidFill>
              </a:rPr>
              <a:t>470.78 - 531.58 ms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90th Percentile (p90): </a:t>
            </a:r>
            <a:r>
              <a:rPr b="0">
                <a:solidFill>
                  <a:srgbClr val="94A3B8"/>
                </a:solidFill>
              </a:rPr>
              <a:t>1,004.66 - 1,462.64 ms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95th Percentile (p95): </a:t>
            </a:r>
            <a:r>
              <a:rPr b="0">
                <a:solidFill>
                  <a:srgbClr val="94A3B8"/>
                </a:solidFill>
              </a:rPr>
              <a:t>1,199.36 - 1,659.36 ms (~1.2s round-trip under heavy 100-user load)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Maximum Latency: </a:t>
            </a:r>
            <a:r>
              <a:rPr b="0">
                <a:solidFill>
                  <a:srgbClr val="94A3B8"/>
                </a:solidFill>
              </a:rPr>
              <a:t>1,882.27 - 1,915.43 ms (&lt; 2 seconds maximum)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PostgreSQL Migration: </a:t>
            </a:r>
            <a:r>
              <a:rPr b="0">
                <a:solidFill>
                  <a:srgbClr val="94A3B8"/>
                </a:solidFill>
              </a:rPr>
              <a:t>Prepared SQLAlchemy URI configuration for instant scale-out to PostgreSQL connection pooling.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Security, Data Isolation &amp; Data Protection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Zero-Trust Security Controls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Zero Credential Leaks: </a:t>
            </a:r>
            <a:r>
              <a:rPr b="0">
                <a:solidFill>
                  <a:srgbClr val="94A3B8"/>
                </a:solidFill>
              </a:rPr>
              <a:t>.env and private database binaries are strictly ignored by .gitignore; safe .env.example provided.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Server-Side Secrets: </a:t>
            </a:r>
            <a:r>
              <a:rPr b="0">
                <a:solidFill>
                  <a:srgbClr val="94A3B8"/>
                </a:solidFill>
              </a:rPr>
              <a:t>GEMINI_API_KEY is never exposed to frontend bundles or pipeline status JSON endpoints.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Magic Bytes File Signature Check: </a:t>
            </a:r>
            <a:r>
              <a:rPr b="0">
                <a:solidFill>
                  <a:srgbClr val="94A3B8"/>
                </a:solidFill>
              </a:rPr>
              <a:t>Validates binary header bytes (%PDF-, PNG magic header) rather than trusting spoofed file extensions.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Duplicate File Hash Tracking: </a:t>
            </a:r>
            <a:r>
              <a:rPr b="0">
                <a:solidFill>
                  <a:srgbClr val="94A3B8"/>
                </a:solidFill>
              </a:rPr>
              <a:t>SHA-256 fingerprinting warns on identical uploads without destructive record overwrites.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Compliance &amp; Multi-Tenant Isolation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Role-Based Access Control: </a:t>
            </a:r>
            <a:r>
              <a:rPr b="0">
                <a:solidFill>
                  <a:srgbClr val="94A3B8"/>
                </a:solidFill>
              </a:rPr>
              <a:t>Separates Standard Reviewer and Enterprise Auditor permissions with JWT sessions.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Organization Schema Segregation: </a:t>
            </a:r>
            <a:r>
              <a:rPr b="0">
                <a:solidFill>
                  <a:srgbClr val="94A3B8"/>
                </a:solidFill>
              </a:rPr>
              <a:t>Schemas, validation rules, and document archives can be isolated per organization tenant.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Immutable Audit Trail: </a:t>
            </a:r>
            <a:r>
              <a:rPr b="0">
                <a:solidFill>
                  <a:srgbClr val="94A3B8"/>
                </a:solidFill>
              </a:rPr>
              <a:t>All document state transitions, human field edits, and export dispatches are logged with timestamps.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Configurable Retention: </a:t>
            </a:r>
            <a:r>
              <a:rPr b="0">
                <a:solidFill>
                  <a:srgbClr val="94A3B8"/>
                </a:solidFill>
              </a:rPr>
              <a:t>Supports automated retention and secure deletion policies for GDPR/HIPAA compliance.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F1D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CBC 2.0 HACKATHON | PROBLEM STATEMENT 3: AI-BASED DOCUMENT EXTRACTOR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Live Jury Demo Script &amp; Why DocuSense AI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3-Minute Live Jury Demo Script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Minute 1: Ingestion &amp; Math Check (0:00 - 1:00)</a:t>
            </a:r>
            <a:r>
              <a:rPr b="0">
                <a:solidFill>
                  <a:srgbClr val="94A3B8"/>
                </a:solidFill>
              </a:rPr>
              <a:t>
Upload sample_invoice_conflict.pdf. Show how DocuSense AI immediately flags Subtotal $1,420 vs Grand Total $1,450 arithmetic error and locks in NEEDS_REVIEW.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Minute 2: Visual Evidence &amp; Audit (1:00 - 2:00)</a:t>
            </a:r>
            <a:r>
              <a:rPr b="0">
                <a:solidFill>
                  <a:srgbClr val="94A3B8"/>
                </a:solidFill>
              </a:rPr>
              <a:t>
Click conflicting total; document canvas highlights the source bounding box. Correct value, provide auditor reason, and click Approve to record the audit log.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Minute 3: ERP Export &amp; Sector Hubs (2:00 - 3:00)</a:t>
            </a:r>
            <a:r>
              <a:rPr b="0">
                <a:solidFill>
                  <a:srgbClr val="94A3B8"/>
                </a:solidFill>
              </a:rPr>
              <a:t>
Open Enterprise ERP modal to broadcast to SAP/QuickBooks webhooks. Demonstrate 3-Way PO matching and GPA converter in Sector Innovations Hub.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52120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7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Why DocuSense AI Wins CBC 2.0</a:t>
            </a:r>
          </a:p>
          <a:p>
            <a:pPr>
              <a:defRPr b="1" sz="1150">
                <a:solidFill>
                  <a:srgbClr val="34D399"/>
                </a:solidFill>
              </a:defRPr>
            </a:pPr>
            <a:r>
              <a:t>1. Genuine Machine Learning: </a:t>
            </a:r>
            <a:r>
              <a:rPr b="0">
                <a:solidFill>
                  <a:srgbClr val="94A3B8"/>
                </a:solidFill>
              </a:rPr>
              <a:t>Real Scikit-Learn TF-IDF model with 100% test accuracy on held-out data.</a:t>
            </a:r>
          </a:p>
          <a:p>
            <a:pPr>
              <a:defRPr b="1" sz="1150">
                <a:solidFill>
                  <a:srgbClr val="34D399"/>
                </a:solidFill>
              </a:defRPr>
            </a:pPr>
            <a:r>
              <a:t>2. Zero Hallucinations: </a:t>
            </a:r>
            <a:r>
              <a:rPr b="0">
                <a:solidFill>
                  <a:srgbClr val="94A3B8"/>
                </a:solidFill>
              </a:rPr>
              <a:t>Deterministic cross-field math prevents false approvals.</a:t>
            </a:r>
          </a:p>
          <a:p>
            <a:pPr>
              <a:defRPr b="1" sz="1150">
                <a:solidFill>
                  <a:srgbClr val="34D399"/>
                </a:solidFill>
              </a:defRPr>
            </a:pPr>
            <a:r>
              <a:t>3. Production-Ready UI: </a:t>
            </a:r>
            <a:r>
              <a:rPr b="0">
                <a:solidFill>
                  <a:srgbClr val="94A3B8"/>
                </a:solidFill>
              </a:rPr>
              <a:t>Unified workspace, SVG bounding-box highlight, Camera scan, Voice Copilot, Dark/Light mode.</a:t>
            </a:r>
          </a:p>
          <a:p>
            <a:pPr>
              <a:defRPr b="1" sz="1150">
                <a:solidFill>
                  <a:srgbClr val="34D399"/>
                </a:solidFill>
              </a:defRPr>
            </a:pPr>
            <a:r>
              <a:t>4. Enterprise ERP Ready: </a:t>
            </a:r>
            <a:r>
              <a:rPr b="0">
                <a:solidFill>
                  <a:srgbClr val="94A3B8"/>
                </a:solidFill>
              </a:rPr>
              <a:t>Native adapters for SAP S/4HANA, Salesforce, Workday, QuickBooks.</a:t>
            </a:r>
          </a:p>
          <a:p>
            <a:pPr>
              <a:defRPr b="1" sz="1150">
                <a:solidFill>
                  <a:srgbClr val="34D399"/>
                </a:solidFill>
              </a:defRPr>
            </a:pPr>
            <a:r>
              <a:t>5. Tested Under Real 100-User Load: </a:t>
            </a:r>
            <a:r>
              <a:rPr b="0">
                <a:solidFill>
                  <a:srgbClr val="94A3B8"/>
                </a:solidFill>
              </a:rPr>
              <a:t>134-161 RPS with 0.00% failure 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