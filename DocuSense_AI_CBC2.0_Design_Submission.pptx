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1400" b="1">
                <a:solidFill>
                  <a:srgbClr val="38BDF8"/>
                </a:solidFill>
              </a:defRPr>
            </a:pPr>
            <a:r>
              <a:t>CBC 2.0 HACKATHON DESIGN SUBMISSION — ROUND 1</a:t>
            </a:r>
          </a:p>
          <a:p>
            <a:pPr algn="l">
              <a:defRPr sz="4400" b="1">
                <a:solidFill>
                  <a:srgbClr val="F8FAFC"/>
                </a:solidFill>
              </a:defRPr>
            </a:pPr>
            <a:r>
              <a:t>DocuSense AI</a:t>
            </a:r>
          </a:p>
          <a:p>
            <a:pPr algn="l">
              <a:defRPr sz="2000">
                <a:solidFill>
                  <a:srgbClr val="34D399"/>
                </a:solidFill>
              </a:defRPr>
            </a:pPr>
            <a:r>
              <a:t>Intelligent Document Information Extraction &amp; Validation Platform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Problem Statement #3: Automated Document Extraction &amp; Rule Validation</a:t>
            </a:r>
          </a:p>
          <a:p>
            <a:pPr>
              <a:defRPr sz="1300" b="1">
                <a:solidFill>
                  <a:srgbClr val="FBBF24"/>
                </a:solidFill>
              </a:defRPr>
            </a:pPr>
            <a:r>
              <a:t>Team Name: CACHE CODE | Target: 18-Hour Working Prototype on CPU Laptop Hardware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CBC 2.0 HACKATHON | DOMAIN: AI &amp; ML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Section A — Problem Definition &amp; Operational Bottlenecks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The Existing Manual Document Problem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Unstructured Heterogeneity: </a:t>
            </a:r>
            <a:r>
              <a:rPr b="0" sz="1150"/>
              <a:t>Organizations process invoices, certificates, and forms with hundreds of non-standard visual layouts.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High Error Rates: </a:t>
            </a:r>
            <a:r>
              <a:rPr b="0" sz="1150"/>
              <a:t>Manual entry yields 3–8% error rates (typos, date format confusion, missing fields).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Time-Consuming Bottleneck: </a:t>
            </a:r>
            <a:r>
              <a:rPr b="0" sz="1150"/>
              <a:t>Operations personnel spend ~10 minutes per document verifying line items and cross-checking data.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Poor Scan Quality: </a:t>
            </a:r>
            <a:r>
              <a:rPr b="0" sz="1150"/>
              <a:t>Low resolution, mobile photo distortions, and noise render primitive OCR systems ineffective.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DocuSense AI Proposed Solution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Intelligent Automated Processing: </a:t>
            </a:r>
            <a:r>
              <a:rPr b="0" sz="1150"/>
              <a:t>End-to-end pipeline covering Upload → Preprocessing → OCR → AI Extraction → Rule Validation → Review.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Validation-Aware Engine: </a:t>
            </a:r>
            <a:r>
              <a:rPr b="0" sz="1150"/>
              <a:t>Instant validation of ISO dates, numeric sanity checks, tax IDs, required fields, and multi-location conflicts.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Human-in-the-Loop Workflow: </a:t>
            </a:r>
            <a:r>
              <a:rPr b="0" sz="1150"/>
              <a:t>Highlights low-confidence scores and validation errors for side-by-side one-click human verification.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Privacy &amp; Laptop CPU Support: </a:t>
            </a:r>
            <a:r>
              <a:rPr b="0" sz="1150"/>
              <a:t>Optimized for lightweight execution without requiring high-cost cloud GPUs.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CBC 2.0 HACKATHON | DOMAIN: AI &amp; ML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Section B — User Roles &amp; End-to-End Journey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97680"/>
                <a:gridCol w="411480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User 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Core Responsibilities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Primary UI View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Document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Uploads documents, triggers processing jobs, views summary, exports JSON/CSV.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Upload &amp; Ingestion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Reviewer / Validator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Inspects low-confidence fields, resolves validation errors &amp; multi-value conflicts.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Side-by-Side Review Canvas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Schema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Defines JSON field schemas, configures validation regex rules, sets thresholds.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Schema &amp; Rule Configurator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3566160"/>
            <a:ext cx="1069848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End-to-End User Journey (5 Key Stages)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1. Drag &amp; Drop Upload: </a:t>
            </a:r>
            <a:r>
              <a:rPr b="0" sz="1100"/>
              <a:t>User drops batch of PDF/PNG files into the dashboard.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2. Automated Ingestion: </a:t>
            </a:r>
            <a:r>
              <a:rPr b="0" sz="1100"/>
              <a:t>OpenCV binarizes scan, PaddleOCR parses text layout, system classifies doc type.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3. Rule Validation: </a:t>
            </a:r>
            <a:r>
              <a:rPr b="0" sz="1100"/>
              <a:t>Pydantic validator flags invalid formats, missing values, or multi-location value conflicts.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4. Interactive Verification: </a:t>
            </a:r>
            <a:r>
              <a:rPr b="0" sz="1100"/>
              <a:t>Reviewer opens side-by-side canvas; SVG overlays highlight bounding boxes on source PDF.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5. Export &amp; Audit Trail: </a:t>
            </a:r>
            <a:r>
              <a:rPr b="0" sz="1100"/>
              <a:t>Approved fields saved to SQLite with reviewer timestamp and exported to ERP JSON/CSV.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VISUAL INTERFACE &amp; EVIDENCE HIGHLIGHTING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Section C — UI/UX Wireframe &amp; Side-by-Side Canvas</a:t>
            </a:r>
          </a:p>
        </p:txBody>
      </p:sp>
      <p:pic>
        <p:nvPicPr>
          <p:cNvPr id="3" name="Picture 2" descr="ui_wireframe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63224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TECHNICAL STACK &amp; COMPONENT RESPONSIBILITIES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Section D — Proposed System Architecture Diagram</a:t>
            </a:r>
          </a:p>
        </p:txBody>
      </p:sp>
      <p:pic>
        <p:nvPicPr>
          <p:cNvPr id="3" name="Picture 2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63224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STEP-BY-STEP DATA PROCESSING PIPELINE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Section D (Cont.) — Complete End-to-End Data Processing Flow</a:t>
            </a:r>
          </a:p>
        </p:txBody>
      </p:sp>
      <p:pic>
        <p:nvPicPr>
          <p:cNvPr id="3" name="Picture 2" descr="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CBC 2.0 HACKATHON | DOMAIN: AI &amp; ML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Section E — AI/ML Strategy &amp; Layered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Layered AI Extraction Architecture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1. OCR &amp; Layout Analysis (PaddleOCR / PyMuPDF): </a:t>
            </a:r>
            <a:r>
              <a:rPr b="0" sz="1100"/>
              <a:t>Parses document geometry into tokens with bounding box coordinates [x, y, w, h] and raw OCR confidence scores.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2. Spatial Anchor Extraction: </a:t>
            </a:r>
            <a:r>
              <a:rPr b="0" sz="1100"/>
              <a:t>Locates key text anchors (e.g. 'Invoice Date:', 'Grand Total:') and uses spatial proximity matching (bounding box right/below) to associate values.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3. Zero-Shot LLM Schema Assistance (Optional Cloud API): </a:t>
            </a:r>
            <a:r>
              <a:rPr b="0" sz="1100"/>
              <a:t>Converts OCR bounding box tokens into structured JSON fields matching predefined schema definitions when API is accessible.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4. Offline Spatial Heuristic Fallback: </a:t>
            </a:r>
            <a:r>
              <a:rPr b="0" sz="1100"/>
              <a:t>If external API is offline/unavailable, automatically runs local regex + spatial proximity heuristics to ensure zero downtime.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5. Confidence Score Calibration Formula: </a:t>
            </a:r>
            <a:r>
              <a:rPr b="0" sz="1100"/>
              <a:t>Final Confidence = 0.50*(OCR Confidence) + 0.30*(Spatial Proximity Score) + 0.20*(Validation Rule Signal).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STRUCTURED JSON WITH TRACEABILITY METADATA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Section E (Cont.) — Configurable Schemas &amp; Output JSON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950">
                <a:solidFill>
                  <a:srgbClr val="F8FAFC"/>
                </a:solidFill>
                <a:latin typeface="Consolas"/>
              </a:defRPr>
            </a:pPr>
            <a:r>
              <a:t>{</a:t>
            </a:r>
            <a:br/>
            <a:r>
              <a:t>  "document_id": "doc_9f8b2c1a",</a:t>
            </a:r>
            <a:br/>
            <a:r>
              <a:t>  "filename": "vendor_invoice_2026_04.pdf",</a:t>
            </a:r>
            <a:br/>
            <a:r>
              <a:t>  "detected_type": "invoice",</a:t>
            </a:r>
            <a:br/>
            <a:r>
              <a:t>  "overall_validation_status": "REQUIRES_REVIEW",</a:t>
            </a:r>
            <a:br/>
            <a:r>
              <a:t>  "extracted_fields": {</a:t>
            </a:r>
            <a:br/>
            <a:r>
              <a:t>    "invoice_number": {</a:t>
            </a:r>
            <a:br/>
            <a:r>
              <a:t>      "value": "INV-2026-8891",</a:t>
            </a:r>
            <a:br/>
            <a:r>
              <a:t>      "confidence": 0.94,</a:t>
            </a:r>
            <a:br/>
            <a:r>
              <a:t>      "validation_status": "VALID",</a:t>
            </a:r>
            <a:br/>
            <a:r>
              <a:t>      "evidence": { "page_number": 1, "bbox": [140, 520, 160, 680], "raw_ocr_text": "Invoice No: INV-2026-8891" }</a:t>
            </a:r>
            <a:br/>
            <a:r>
              <a:t>    },</a:t>
            </a:r>
            <a:br/>
            <a:r>
              <a:t>    "total_amount": {</a:t>
            </a:r>
            <a:br/>
            <a:r>
              <a:t>      "value": 1450.00,</a:t>
            </a:r>
            <a:br/>
            <a:r>
              <a:t>      "confidence": 0.65,</a:t>
            </a:r>
            <a:br/>
            <a:r>
              <a:t>      "validation_status": "CONFLICT_DETECTED",</a:t>
            </a:r>
            <a:br/>
            <a:r>
              <a:t>      "validation_message": "Conflicting values found ($1,450.00 vs $1,420.00)",</a:t>
            </a:r>
            <a:br/>
            <a:r>
              <a:t>      "conflicting_candidates": [</a:t>
            </a:r>
            <a:br/>
            <a:r>
              <a:t>        { "value": 1450.00, "bbox": [680, 500, 700, 620], "context": "Grand Total: $1,450.00" },</a:t>
            </a:r>
            <a:br/>
            <a:r>
              <a:t>        { "value": 1420.00, "bbox": [520, 500, 540, 620], "context": "Subtotal: $1,420.00" }</a:t>
            </a:r>
            <a:br/>
            <a:r>
              <a:t>      ]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CBC 2.0 HACKATHON | DOMAIN: AI &amp; ML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Section F — Edge-Case Handling &amp; Mitigation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9441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3291840"/>
                <a:gridCol w="2864815"/>
              </a:tblGrid>
              <a:tr h="8686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Edge Case Scenario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System Detection Method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Automated Pipeline Response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User Experience (UI)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Blurry / Low-Res 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OpenCV Laplacian variance &lt; 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Applies sharpen kernel &amp; contrast fix; flags low confidence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Warning banner: 'Low resolution scan detected'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Missing Required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Schema required check fails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Sets status: MISSING; flags doc for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Red highlight on field with 'Click to Enter'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Invalid Date / 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Regex / strptime exception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Sets INVALID_FORMAT; retains raw 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Pill alert: 'Unrecognized date format'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Conflicting Multi-Value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Multiple matches with differing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Stores primary + candidate array with bboxes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Conflict Resolver modal with side-by-side bboxes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Corrupted / Invalid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PyMuPDF fitz.open()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Catches exception; returns HTTP 422 payload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Error card: 'File could not be parsed'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CBC 2.0 HACKATHON | DOMAIN: AI &amp; ML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Section G — Stretch Feature: Evidence-Linked Source Highlighting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Traceable SVG Bounding Box Engine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Normalized Coordinate Storage: </a:t>
            </a:r>
            <a:r>
              <a:rPr b="0" sz="1100"/>
              <a:t>Bounding box pixel values are converted to percentage-based bounding coordinates: [ymin%, xmin%, ymax%, xmax%].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Interactive Canvas Synchronization: </a:t>
            </a:r>
            <a:r>
              <a:rPr b="0" sz="1100"/>
              <a:t>Clicking an extracted field in the right panel auto-scrolls the left PDF canvas and triggers a pulsating SVG outline on the exact source text.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Color-Coded Status Overlays: </a:t>
            </a:r>
            <a:r>
              <a:rPr b="0" sz="1100"/>
              <a:t>Green SVG rectangles represent Valid fields; Red represents Format Errors; Amber represents Conflicting values.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Fallback Text Anchor Matching: </a:t>
            </a:r>
            <a:r>
              <a:rPr b="0" sz="1100"/>
              <a:t>If precise bounding box coordinates are unavailable (e.g. digital PDFs without layout bounding box metadata), the UI highlights the surrounding text anchor snippet inside a preview box.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RELATIONAL SCHEMA (SQLITE / SQLALCHEMY)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Section H — Database Design &amp; Relational ER Diagram</a:t>
            </a:r>
          </a:p>
        </p:txBody>
      </p:sp>
      <p:pic>
        <p:nvPicPr>
          <p:cNvPr id="3" name="Picture 2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63224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CBC 2.0 HACKATHON | DOMAIN: AI &amp; ML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Section J &amp; K — Privacy, Security &amp; Testing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Privacy, Security &amp; Async Architecture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Async Task Queue: </a:t>
            </a:r>
            <a:r>
              <a:rPr b="0" sz="1050"/>
              <a:t>FastAPI BackgroundTasks queue decouples file ingestion from UI gateway.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PII Encryption: </a:t>
            </a:r>
            <a:r>
              <a:rPr b="0" sz="1050"/>
              <a:t>Names, emails, and phone numbers encrypted at rest via AES-256.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Zero Retention Policy: </a:t>
            </a:r>
            <a:r>
              <a:rPr b="0" sz="1050"/>
              <a:t>External API calls enforce zero-data-retention headers.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Local Offline Mode: </a:t>
            </a:r>
            <a:r>
              <a:rPr b="0" sz="1050"/>
              <a:t>100% offline PaddleOCR + regex mode for sensitive documents.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Production Path: </a:t>
            </a:r>
            <a:r>
              <a:rPr b="0" sz="1050"/>
              <a:t>Upgrade from SQLite to PostgreSQL + S3 + Redis Celery workers.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Testing &amp; Ground-Truth Evaluation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Evaluation Metrics: </a:t>
            </a:r>
            <a:r>
              <a:rPr b="0" sz="1050"/>
              <a:t>Field extraction precision/recall against manually annotated ground-truth dataset (30 documents).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Latency Target: </a:t>
            </a:r>
            <a:r>
              <a:rPr b="0" sz="1050"/>
              <a:t>&lt; 12 seconds per multi-page document on standard laptop CPUs.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Test Matrix Coverage: </a:t>
            </a:r>
            <a:r>
              <a:rPr b="0" sz="1050"/>
              <a:t>Includes clean PDFs, blurry phone photos, missing values, invalid date formats, and conflicting line items.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Human Correction Rate: </a:t>
            </a:r>
            <a:r>
              <a:rPr b="0" sz="1050"/>
              <a:t>Measures time saved by human reviewer during side-by-side verification.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CBC 2.0 HACKATHON | DOMAIN: AI &amp; ML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Section L — 18-Hour Execution Roadmap &amp; Team Responsibilities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6400800"/>
              </a:tblGrid>
              <a:tr h="42062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Team Member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Core 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Primary Technical Ownership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Member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AI / OCR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PyMuPDF parsing, PaddleOCR engine, spatial key-value &amp; LLM extraction pipeline.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Member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Backend &amp; DB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FastAPI REST endpoints, SQLite data models, validation engine &amp; job queue.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Member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Frontend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React + TS UI, dashboard, side-by-side SVG overlay canvas &amp; review form.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Member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Integration &amp; QA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End-to-end integration, edge-case test dataset, JSON/CSV exports &amp; pitch demo script.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3474720"/>
            <a:ext cx="106984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18-Hour Milestone Timetable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Hours 0-1: </a:t>
            </a:r>
            <a:r>
              <a:rPr b="0" sz="1000"/>
              <a:t>Setup &amp; Interface Agreements — Initialize Git, FastAPI scaffold, OpenAPI spec, React Vite project.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Hours 1-5: </a:t>
            </a:r>
            <a:r>
              <a:rPr b="0" sz="1000"/>
              <a:t>Parallel Component Build — M1 OCR pipeline, M2 FastAPI &amp; SQLite DB, M3 React canvas UI, M4 test corpus.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Hours 5-9: </a:t>
            </a:r>
            <a:r>
              <a:rPr b="0" sz="1000"/>
              <a:t>First Pipeline Integration — Connect upload API to OCR &amp; render extracted fields on UI.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Hours 9-13: </a:t>
            </a:r>
            <a:r>
              <a:rPr b="0" sz="1000"/>
              <a:t>Validation &amp; Review Workflow — Integrate format validators, conflict flagger &amp; review form.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Hours 13-15: </a:t>
            </a:r>
            <a:r>
              <a:rPr b="0" sz="1000"/>
              <a:t>High-Value Differentiator — Implement SVG evidence bounding box highlighting &amp; canvas auto-scroll.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Hours 15-18: </a:t>
            </a:r>
            <a:r>
              <a:rPr b="0" sz="1000"/>
              <a:t>End-to-End Testing &amp; Rehearsal — Run full test matrix, verify exports, freeze code &amp; rehearse pitch.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HACKATHON PITCH &amp; COMPETITIVE ADVANTAGE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Section M &amp; N — Demo Scenario &amp; Unique Value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3-Minute Live Demo Walkthrough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1. Batch Upload (0:00-0:35): </a:t>
            </a:r>
            <a:r>
              <a:rPr b="0" sz="1000">
                <a:solidFill>
                  <a:srgbClr val="94A3B8"/>
                </a:solidFill>
              </a:rPr>
              <a:t>Upload clean invoice, missing date cert &amp; conflicting invoice.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2. Automated Flagging (0:35-1:15): </a:t>
            </a:r>
            <a:r>
              <a:rPr b="0" sz="1000">
                <a:solidFill>
                  <a:srgbClr val="94A3B8"/>
                </a:solidFill>
              </a:rPr>
              <a:t>Show dashboard auto-flagging missing date and conflicting total.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3. Evidence Highlighting (1:15-2:05): </a:t>
            </a:r>
            <a:r>
              <a:rPr b="0" sz="1000">
                <a:solidFill>
                  <a:srgbClr val="94A3B8"/>
                </a:solidFill>
              </a:rPr>
              <a:t>Click conflicting total; PDF auto-scrolls to highlighted bboxes ($1,450 vs $1,420).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4. One-Click Override (2:05-2:40): </a:t>
            </a:r>
            <a:r>
              <a:rPr b="0" sz="1000">
                <a:solidFill>
                  <a:srgbClr val="94A3B8"/>
                </a:solidFill>
              </a:rPr>
              <a:t>Select correct total, fill missing date, click Approve.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5. Export (2:40-3:00): </a:t>
            </a:r>
            <a:r>
              <a:rPr b="0" sz="1000">
                <a:solidFill>
                  <a:srgbClr val="94A3B8"/>
                </a:solidFill>
              </a:rPr>
              <a:t>Download clean structured JSON &amp; CSV export.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Unique Value Proposition (UVP)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Validation-First Architecture: </a:t>
            </a:r>
            <a:r>
              <a:rPr b="0" sz="1050">
                <a:solidFill>
                  <a:srgbClr val="94A3B8"/>
                </a:solidFill>
              </a:rPr>
              <a:t>Goes beyond raw OCR text by enforcing automated business rules and format validation.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Transparent Evidence Highlighting: </a:t>
            </a:r>
            <a:r>
              <a:rPr b="0" sz="1050">
                <a:solidFill>
                  <a:srgbClr val="94A3B8"/>
                </a:solidFill>
              </a:rPr>
              <a:t>Eliminates black-box AI errors by linking every value to SVG source bounding boxes.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Multi-Location Conflict Resolver: </a:t>
            </a:r>
            <a:r>
              <a:rPr b="0" sz="1050">
                <a:solidFill>
                  <a:srgbClr val="94A3B8"/>
                </a:solidFill>
              </a:rPr>
              <a:t>Intelligently flags and presents competing candidate values instead of silent overwrites.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Laptop CPU Optimization: </a:t>
            </a:r>
            <a:r>
              <a:rPr b="0" sz="1050">
                <a:solidFill>
                  <a:srgbClr val="94A3B8"/>
                </a:solidFill>
              </a:rPr>
              <a:t>Runs efficiently on standard developer laptops without expensive GPU infrastructure.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